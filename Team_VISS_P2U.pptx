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1" r:id="rId5"/>
    <p:sldId id="262" r:id="rId6"/>
    <p:sldId id="260" r:id="rId7"/>
    <p:sldId id="264"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1828"/>
    <a:srgbClr val="02C3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84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 pause after 'before you do.' Let it land. Then say: 'That's not science fiction. That's what we built this weekend. We processed 5.2 million prescription records and trained a model that predicts the next drug in a patient's clinical journey — with a real explanation for why.' One minute on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60 seconds here. The key insight is simple: pharmacies treat refills as isolated transactions. But in reality, a patient's prescription history IS their health journey — it's a sequence with real medical logic embedded in it. Metformin leads to Lisinopril leads to Statins — these are known clinical progressions. Our model learned them from 5.2 million events without being told the clinical rules.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technical meat — 90 seconds. Walk through the three steps quickly. Then PAUSE on the wow factor box. Say: 'Here's the part that impressed us. A normal patient on a statin? The model predicts a standard antihypertensive. But flip on the diabetes context flag — same patient, same drug — and instantly the engine re-routes through a diabetic sub-graph and predicts Pregabalin, a nerve pain medication for diabetic neuropathy. The model literally learned that pathway from the data without being told.' That moment lands hard.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1BD8B-B6FA-1AA1-4ADC-0AE487C00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2D9BC-C252-FBCD-01E1-92139189F3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61EAC-7A6C-03EF-3E6A-E7B538BDCDD0}"/>
              </a:ext>
            </a:extLst>
          </p:cNvPr>
          <p:cNvSpPr>
            <a:spLocks noGrp="1"/>
          </p:cNvSpPr>
          <p:nvPr>
            <p:ph type="body" idx="1"/>
          </p:nvPr>
        </p:nvSpPr>
        <p:spPr/>
        <p:txBody>
          <a:bodyPr/>
          <a:lstStyle/>
          <a:p>
            <a:r>
              <a:rPr lang="en-US" dirty="0"/>
              <a:t>This slide is where you earn credibility with the judges. Don't hide the ~0% Recall. Lead with it. Say: 'We hit Recall@5 of effectively zero on the 2010 holdout. But — and this is critical — the CMS documentation itself tells you why: patient IDs are deliberately scrambled across years. Cross-year prediction is mathematically impossible on this dataset, for any model. What validates our engine is something different: it independently learned that statins predict neuropathy in diabetics. That's not a coincidence — that's a known clinical pathway. When plugged into real Pharmacy2U data, temporal validation holds immediately.' Judges will respect the honesty. 90 seconds here.</a:t>
            </a:r>
          </a:p>
        </p:txBody>
      </p:sp>
      <p:sp>
        <p:nvSpPr>
          <p:cNvPr id="4" name="Slide Number Placeholder 3">
            <a:extLst>
              <a:ext uri="{FF2B5EF4-FFF2-40B4-BE49-F238E27FC236}">
                <a16:creationId xmlns:a16="http://schemas.microsoft.com/office/drawing/2014/main" id="{AF5D91C3-8BBB-A9BF-51A1-79C76592F41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02660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'responsible framing' — this is not clinical advice, it's a proactive support and engagement tool. For P2U the business case is strong: supply chain optimisation + LTV improvement. For the patient: moving from reactive to proactive healthcare.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in 60 seconds. Read through the three takeaways briefly, then hit the call to action hard. End with: 'We processed 5.2 million events, built context-aware Markov matrices for 260,000 drug states, and deployed it as a live Streamlit app — in 48 hours. The architecture is done. The science works. Give us one drug class from real Pharmacy2U data and we will show you that temporal validation holds. Thank you.' Then open for questions — you'll be ready for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mention only: we also worked on Challenge A. PR-AUC of 0.93 vs 0.80 previous best. At 0.35 threshold we get balanced precision and recall both ~0.9. The top feature by far is DAYS_SUPLY_NUM — how many days supply is dispensed — which makes clinical sense as the strongest predictor of refill behaviour.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A"/>
        </a:solidFill>
        <a:effectLst/>
      </p:bgPr>
    </p:bg>
    <p:spTree>
      <p:nvGrpSpPr>
        <p:cNvPr id="1" name=""/>
        <p:cNvGrpSpPr/>
        <p:nvPr/>
      </p:nvGrpSpPr>
      <p:grpSpPr>
        <a:xfrm>
          <a:off x="0" y="0"/>
          <a:ext cx="0" cy="0"/>
          <a:chOff x="0" y="0"/>
          <a:chExt cx="0" cy="0"/>
        </a:xfrm>
      </p:grpSpPr>
      <p:sp>
        <p:nvSpPr>
          <p:cNvPr id="2" name="Shape 0"/>
          <p:cNvSpPr/>
          <p:nvPr/>
        </p:nvSpPr>
        <p:spPr>
          <a:xfrm>
            <a:off x="6217920" y="-1097280"/>
            <a:ext cx="4572000" cy="4572000"/>
          </a:xfrm>
          <a:prstGeom prst="ellipse">
            <a:avLst/>
          </a:prstGeom>
          <a:solidFill>
            <a:srgbClr val="0EA5E9">
              <a:alpha val="10000"/>
            </a:srgbClr>
          </a:solidFill>
          <a:ln w="12700">
            <a:solidFill>
              <a:srgbClr val="333333"/>
            </a:solidFill>
            <a:prstDash val="solid"/>
          </a:ln>
        </p:spPr>
      </p:sp>
      <p:sp>
        <p:nvSpPr>
          <p:cNvPr id="3" name="Shape 1"/>
          <p:cNvSpPr/>
          <p:nvPr/>
        </p:nvSpPr>
        <p:spPr>
          <a:xfrm>
            <a:off x="6858000" y="2286000"/>
            <a:ext cx="2743200" cy="2743200"/>
          </a:xfrm>
          <a:prstGeom prst="ellipse">
            <a:avLst/>
          </a:prstGeom>
          <a:solidFill>
            <a:srgbClr val="10B981">
              <a:alpha val="8000"/>
            </a:srgbClr>
          </a:solidFill>
          <a:ln w="12700">
            <a:solidFill>
              <a:srgbClr val="333333"/>
            </a:solidFill>
            <a:prstDash val="solid"/>
          </a:ln>
        </p:spPr>
      </p:sp>
      <p:sp>
        <p:nvSpPr>
          <p:cNvPr id="4" name="Shape 2"/>
          <p:cNvSpPr/>
          <p:nvPr/>
        </p:nvSpPr>
        <p:spPr>
          <a:xfrm>
            <a:off x="502920" y="438912"/>
            <a:ext cx="2377440" cy="274320"/>
          </a:xfrm>
          <a:prstGeom prst="rect">
            <a:avLst/>
          </a:prstGeom>
          <a:solidFill>
            <a:srgbClr val="0EA5E9"/>
          </a:solidFill>
          <a:ln w="12700">
            <a:solidFill>
              <a:srgbClr val="333333"/>
            </a:solidFill>
            <a:prstDash val="solid"/>
          </a:ln>
        </p:spPr>
      </p:sp>
      <p:sp>
        <p:nvSpPr>
          <p:cNvPr id="5" name="Text 3"/>
          <p:cNvSpPr/>
          <p:nvPr/>
        </p:nvSpPr>
        <p:spPr>
          <a:xfrm>
            <a:off x="502920" y="438912"/>
            <a:ext cx="2377440" cy="274320"/>
          </a:xfrm>
          <a:prstGeom prst="rect">
            <a:avLst/>
          </a:prstGeom>
          <a:noFill/>
          <a:ln/>
        </p:spPr>
        <p:txBody>
          <a:bodyPr wrap="square" lIns="0" tIns="0" rIns="0" bIns="0" rtlCol="0" anchor="ctr"/>
          <a:lstStyle/>
          <a:p>
            <a:pPr marL="0" indent="0" algn="ctr">
              <a:buNone/>
            </a:pPr>
            <a:r>
              <a:rPr lang="en-US" sz="900" b="1" dirty="0">
                <a:solidFill>
                  <a:srgbClr val="0D0D1A"/>
                </a:solidFill>
              </a:rPr>
              <a:t>PHARMACY2U  ·  HACKATHON 2024</a:t>
            </a:r>
            <a:endParaRPr lang="en-US" sz="900" dirty="0"/>
          </a:p>
        </p:txBody>
      </p:sp>
      <p:sp>
        <p:nvSpPr>
          <p:cNvPr id="6" name="Text 4"/>
          <p:cNvSpPr/>
          <p:nvPr/>
        </p:nvSpPr>
        <p:spPr>
          <a:xfrm>
            <a:off x="502920" y="841248"/>
            <a:ext cx="8229600" cy="749808"/>
          </a:xfrm>
          <a:prstGeom prst="rect">
            <a:avLst/>
          </a:prstGeom>
          <a:noFill/>
          <a:ln/>
        </p:spPr>
        <p:txBody>
          <a:bodyPr wrap="square"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Your pharmacy</a:t>
            </a:r>
            <a:endParaRPr lang="en-US" sz="5000" dirty="0"/>
          </a:p>
        </p:txBody>
      </p:sp>
      <p:sp>
        <p:nvSpPr>
          <p:cNvPr id="7" name="Text 5"/>
          <p:cNvSpPr/>
          <p:nvPr/>
        </p:nvSpPr>
        <p:spPr>
          <a:xfrm>
            <a:off x="502920" y="1554480"/>
            <a:ext cx="8229600" cy="749808"/>
          </a:xfrm>
          <a:prstGeom prst="rect">
            <a:avLst/>
          </a:prstGeom>
          <a:noFill/>
          <a:ln/>
        </p:spPr>
        <p:txBody>
          <a:bodyPr wrap="square" rtlCol="0" anchor="ctr"/>
          <a:lstStyle/>
          <a:p>
            <a:pPr marL="0" indent="0">
              <a:buNone/>
            </a:pPr>
            <a:r>
              <a:rPr lang="en-US" sz="5000" b="1" dirty="0">
                <a:solidFill>
                  <a:srgbClr val="0EA5E9"/>
                </a:solidFill>
                <a:latin typeface="Calibri" pitchFamily="34" charset="0"/>
                <a:ea typeface="Calibri" pitchFamily="34" charset="-122"/>
                <a:cs typeface="Calibri" pitchFamily="34" charset="-120"/>
              </a:rPr>
              <a:t>knows your next prescription</a:t>
            </a:r>
            <a:endParaRPr lang="en-US" sz="5000" dirty="0"/>
          </a:p>
        </p:txBody>
      </p:sp>
      <p:sp>
        <p:nvSpPr>
          <p:cNvPr id="8" name="Text 6"/>
          <p:cNvSpPr/>
          <p:nvPr/>
        </p:nvSpPr>
        <p:spPr>
          <a:xfrm>
            <a:off x="502920" y="2267712"/>
            <a:ext cx="5486400" cy="621792"/>
          </a:xfrm>
          <a:prstGeom prst="rect">
            <a:avLst/>
          </a:prstGeom>
          <a:noFill/>
          <a:ln/>
        </p:spPr>
        <p:txBody>
          <a:bodyPr wrap="square"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before you do.</a:t>
            </a:r>
            <a:endParaRPr lang="en-US" sz="5000" dirty="0"/>
          </a:p>
        </p:txBody>
      </p:sp>
      <p:sp>
        <p:nvSpPr>
          <p:cNvPr id="9" name="Text 7"/>
          <p:cNvSpPr/>
          <p:nvPr/>
        </p:nvSpPr>
        <p:spPr>
          <a:xfrm>
            <a:off x="502920" y="3063240"/>
            <a:ext cx="6858000" cy="685800"/>
          </a:xfrm>
          <a:prstGeom prst="rect">
            <a:avLst/>
          </a:prstGeom>
          <a:noFill/>
          <a:ln/>
        </p:spPr>
        <p:txBody>
          <a:bodyPr wrap="square" rtlCol="0" anchor="ctr"/>
          <a:lstStyle/>
          <a:p>
            <a:pPr marL="0" indent="0">
              <a:buNone/>
            </a:pPr>
            <a:r>
              <a:rPr lang="en-US" sz="1250" dirty="0">
                <a:solidFill>
                  <a:srgbClr val="94A3B8"/>
                </a:solidFill>
                <a:latin typeface="Calibri" pitchFamily="34" charset="0"/>
                <a:ea typeface="Calibri" pitchFamily="34" charset="-122"/>
                <a:cs typeface="Calibri" pitchFamily="34" charset="-120"/>
              </a:rPr>
              <a:t>We built a Context-Aware Pathway Engine that reads 5.2 million prescription events</a:t>
            </a:r>
            <a:endParaRPr lang="en-US" sz="1250" dirty="0"/>
          </a:p>
          <a:p>
            <a:pPr marL="0" indent="0">
              <a:buNone/>
            </a:pPr>
            <a:r>
              <a:rPr lang="en-US" sz="1250" dirty="0">
                <a:solidFill>
                  <a:srgbClr val="94A3B8"/>
                </a:solidFill>
                <a:latin typeface="Calibri" pitchFamily="34" charset="0"/>
                <a:ea typeface="Calibri" pitchFamily="34" charset="-122"/>
                <a:cs typeface="Calibri" pitchFamily="34" charset="-120"/>
              </a:rPr>
              <a:t>to predict — and explain — the next step in every patient's clinical journey.</a:t>
            </a:r>
            <a:endParaRPr lang="en-US" sz="1250" dirty="0"/>
          </a:p>
        </p:txBody>
      </p:sp>
      <p:sp>
        <p:nvSpPr>
          <p:cNvPr id="10" name="Shape 8"/>
          <p:cNvSpPr/>
          <p:nvPr/>
        </p:nvSpPr>
        <p:spPr>
          <a:xfrm>
            <a:off x="502920" y="3950208"/>
            <a:ext cx="2514600" cy="868680"/>
          </a:xfrm>
          <a:prstGeom prst="rect">
            <a:avLst/>
          </a:prstGeom>
          <a:solidFill>
            <a:srgbClr val="1A2744"/>
          </a:solidFill>
          <a:ln w="12700">
            <a:solidFill>
              <a:srgbClr val="333333"/>
            </a:solidFill>
            <a:prstDash val="solid"/>
          </a:ln>
        </p:spPr>
      </p:sp>
      <p:sp>
        <p:nvSpPr>
          <p:cNvPr id="11" name="Shape 9"/>
          <p:cNvSpPr/>
          <p:nvPr/>
        </p:nvSpPr>
        <p:spPr>
          <a:xfrm>
            <a:off x="502920" y="3950208"/>
            <a:ext cx="2514600" cy="54864"/>
          </a:xfrm>
          <a:prstGeom prst="rect">
            <a:avLst/>
          </a:prstGeom>
          <a:solidFill>
            <a:srgbClr val="0EA5E9"/>
          </a:solidFill>
          <a:ln w="12700">
            <a:solidFill>
              <a:srgbClr val="333333"/>
            </a:solidFill>
            <a:prstDash val="solid"/>
          </a:ln>
        </p:spPr>
      </p:sp>
      <p:sp>
        <p:nvSpPr>
          <p:cNvPr id="12" name="Text 10"/>
          <p:cNvSpPr/>
          <p:nvPr/>
        </p:nvSpPr>
        <p:spPr>
          <a:xfrm>
            <a:off x="594360" y="4041648"/>
            <a:ext cx="2331720" cy="347472"/>
          </a:xfrm>
          <a:prstGeom prst="rect">
            <a:avLst/>
          </a:prstGeom>
          <a:noFill/>
          <a:ln/>
        </p:spPr>
        <p:txBody>
          <a:bodyPr wrap="square" rtlCol="0" anchor="ctr"/>
          <a:lstStyle/>
          <a:p>
            <a:pPr marL="0" indent="0">
              <a:buNone/>
            </a:pPr>
            <a:r>
              <a:rPr lang="en-US" sz="2800" b="1" dirty="0">
                <a:solidFill>
                  <a:srgbClr val="0EA5E9"/>
                </a:solidFill>
                <a:latin typeface="Calibri" pitchFamily="34" charset="0"/>
                <a:ea typeface="Calibri" pitchFamily="34" charset="-122"/>
                <a:cs typeface="Calibri" pitchFamily="34" charset="-120"/>
              </a:rPr>
              <a:t>5.2M</a:t>
            </a:r>
            <a:endParaRPr lang="en-US" sz="2800" dirty="0"/>
          </a:p>
        </p:txBody>
      </p:sp>
      <p:sp>
        <p:nvSpPr>
          <p:cNvPr id="13" name="Text 11"/>
          <p:cNvSpPr/>
          <p:nvPr/>
        </p:nvSpPr>
        <p:spPr>
          <a:xfrm>
            <a:off x="594360" y="4389120"/>
            <a:ext cx="2331720" cy="274320"/>
          </a:xfrm>
          <a:prstGeom prst="rect">
            <a:avLst/>
          </a:prstGeom>
          <a:noFill/>
          <a:ln/>
        </p:spPr>
        <p:txBody>
          <a:bodyPr wrap="square" rtlCol="0" anchor="ctr"/>
          <a:lstStyle/>
          <a:p>
            <a:pPr marL="0" indent="0">
              <a:buNone/>
            </a:pPr>
            <a:r>
              <a:rPr lang="en-US" sz="950" dirty="0">
                <a:solidFill>
                  <a:srgbClr val="94A3B8"/>
                </a:solidFill>
              </a:rPr>
              <a:t>Rx events processed</a:t>
            </a:r>
            <a:endParaRPr lang="en-US" sz="950" dirty="0"/>
          </a:p>
        </p:txBody>
      </p:sp>
      <p:sp>
        <p:nvSpPr>
          <p:cNvPr id="14" name="Shape 12"/>
          <p:cNvSpPr/>
          <p:nvPr/>
        </p:nvSpPr>
        <p:spPr>
          <a:xfrm>
            <a:off x="3291840" y="3950208"/>
            <a:ext cx="2514600" cy="868680"/>
          </a:xfrm>
          <a:prstGeom prst="rect">
            <a:avLst/>
          </a:prstGeom>
          <a:solidFill>
            <a:srgbClr val="1A2744"/>
          </a:solidFill>
          <a:ln w="12700">
            <a:solidFill>
              <a:srgbClr val="333333"/>
            </a:solidFill>
            <a:prstDash val="solid"/>
          </a:ln>
        </p:spPr>
      </p:sp>
      <p:sp>
        <p:nvSpPr>
          <p:cNvPr id="15" name="Shape 13"/>
          <p:cNvSpPr/>
          <p:nvPr/>
        </p:nvSpPr>
        <p:spPr>
          <a:xfrm>
            <a:off x="3291840" y="3950208"/>
            <a:ext cx="2514600" cy="54864"/>
          </a:xfrm>
          <a:prstGeom prst="rect">
            <a:avLst/>
          </a:prstGeom>
          <a:solidFill>
            <a:srgbClr val="0EA5E9"/>
          </a:solidFill>
          <a:ln w="12700">
            <a:solidFill>
              <a:srgbClr val="333333"/>
            </a:solidFill>
            <a:prstDash val="solid"/>
          </a:ln>
        </p:spPr>
      </p:sp>
      <p:sp>
        <p:nvSpPr>
          <p:cNvPr id="16" name="Text 14"/>
          <p:cNvSpPr/>
          <p:nvPr/>
        </p:nvSpPr>
        <p:spPr>
          <a:xfrm>
            <a:off x="3383280" y="4041648"/>
            <a:ext cx="2331720" cy="347472"/>
          </a:xfrm>
          <a:prstGeom prst="rect">
            <a:avLst/>
          </a:prstGeom>
          <a:noFill/>
          <a:ln/>
        </p:spPr>
        <p:txBody>
          <a:bodyPr wrap="square" rtlCol="0" anchor="ctr"/>
          <a:lstStyle/>
          <a:p>
            <a:pPr marL="0" indent="0">
              <a:buNone/>
            </a:pPr>
            <a:r>
              <a:rPr lang="en-US" sz="2800" b="1" dirty="0">
                <a:solidFill>
                  <a:srgbClr val="0EA5E9"/>
                </a:solidFill>
                <a:latin typeface="Calibri" pitchFamily="34" charset="0"/>
                <a:ea typeface="Calibri" pitchFamily="34" charset="-122"/>
                <a:cs typeface="Calibri" pitchFamily="34" charset="-120"/>
              </a:rPr>
              <a:t>3.8M</a:t>
            </a:r>
            <a:endParaRPr lang="en-US" sz="2800" dirty="0"/>
          </a:p>
        </p:txBody>
      </p:sp>
      <p:sp>
        <p:nvSpPr>
          <p:cNvPr id="17" name="Text 15"/>
          <p:cNvSpPr/>
          <p:nvPr/>
        </p:nvSpPr>
        <p:spPr>
          <a:xfrm>
            <a:off x="3383280" y="4389120"/>
            <a:ext cx="2331720" cy="274320"/>
          </a:xfrm>
          <a:prstGeom prst="rect">
            <a:avLst/>
          </a:prstGeom>
          <a:noFill/>
          <a:ln/>
        </p:spPr>
        <p:txBody>
          <a:bodyPr wrap="square" rtlCol="0" anchor="ctr"/>
          <a:lstStyle/>
          <a:p>
            <a:pPr marL="0" indent="0">
              <a:buNone/>
            </a:pPr>
            <a:r>
              <a:rPr lang="en-US" sz="950" dirty="0">
                <a:solidFill>
                  <a:srgbClr val="94A3B8"/>
                </a:solidFill>
              </a:rPr>
              <a:t>Clinical transitions</a:t>
            </a:r>
            <a:endParaRPr lang="en-US" sz="950" dirty="0"/>
          </a:p>
        </p:txBody>
      </p:sp>
      <p:sp>
        <p:nvSpPr>
          <p:cNvPr id="18" name="Shape 16"/>
          <p:cNvSpPr/>
          <p:nvPr/>
        </p:nvSpPr>
        <p:spPr>
          <a:xfrm>
            <a:off x="6080760" y="3950208"/>
            <a:ext cx="2514600" cy="868680"/>
          </a:xfrm>
          <a:prstGeom prst="rect">
            <a:avLst/>
          </a:prstGeom>
          <a:solidFill>
            <a:srgbClr val="1A2744"/>
          </a:solidFill>
          <a:ln w="12700">
            <a:solidFill>
              <a:srgbClr val="333333"/>
            </a:solidFill>
            <a:prstDash val="solid"/>
          </a:ln>
        </p:spPr>
      </p:sp>
      <p:sp>
        <p:nvSpPr>
          <p:cNvPr id="19" name="Shape 17"/>
          <p:cNvSpPr/>
          <p:nvPr/>
        </p:nvSpPr>
        <p:spPr>
          <a:xfrm>
            <a:off x="6080760" y="3950208"/>
            <a:ext cx="2514600" cy="54864"/>
          </a:xfrm>
          <a:prstGeom prst="rect">
            <a:avLst/>
          </a:prstGeom>
          <a:solidFill>
            <a:srgbClr val="0EA5E9"/>
          </a:solidFill>
          <a:ln w="12700">
            <a:solidFill>
              <a:srgbClr val="333333"/>
            </a:solidFill>
            <a:prstDash val="solid"/>
          </a:ln>
        </p:spPr>
      </p:sp>
      <p:sp>
        <p:nvSpPr>
          <p:cNvPr id="20" name="Text 18"/>
          <p:cNvSpPr/>
          <p:nvPr/>
        </p:nvSpPr>
        <p:spPr>
          <a:xfrm>
            <a:off x="6172200" y="4041648"/>
            <a:ext cx="2331720" cy="347472"/>
          </a:xfrm>
          <a:prstGeom prst="rect">
            <a:avLst/>
          </a:prstGeom>
          <a:noFill/>
          <a:ln/>
        </p:spPr>
        <p:txBody>
          <a:bodyPr wrap="square" rtlCol="0" anchor="ctr"/>
          <a:lstStyle/>
          <a:p>
            <a:pPr marL="0" indent="0">
              <a:buNone/>
            </a:pPr>
            <a:r>
              <a:rPr lang="en-US" sz="2800" b="1" dirty="0">
                <a:solidFill>
                  <a:srgbClr val="0EA5E9"/>
                </a:solidFill>
                <a:latin typeface="Calibri" pitchFamily="34" charset="0"/>
                <a:ea typeface="Calibri" pitchFamily="34" charset="-122"/>
                <a:cs typeface="Calibri" pitchFamily="34" charset="-120"/>
              </a:rPr>
              <a:t>260K</a:t>
            </a:r>
            <a:endParaRPr lang="en-US" sz="2800" dirty="0"/>
          </a:p>
        </p:txBody>
      </p:sp>
      <p:sp>
        <p:nvSpPr>
          <p:cNvPr id="21" name="Text 19"/>
          <p:cNvSpPr/>
          <p:nvPr/>
        </p:nvSpPr>
        <p:spPr>
          <a:xfrm>
            <a:off x="6172200" y="4389120"/>
            <a:ext cx="2331720" cy="274320"/>
          </a:xfrm>
          <a:prstGeom prst="rect">
            <a:avLst/>
          </a:prstGeom>
          <a:noFill/>
          <a:ln/>
        </p:spPr>
        <p:txBody>
          <a:bodyPr wrap="square" rtlCol="0" anchor="ctr"/>
          <a:lstStyle/>
          <a:p>
            <a:pPr marL="0" indent="0">
              <a:buNone/>
            </a:pPr>
            <a:r>
              <a:rPr lang="en-US" sz="950" dirty="0">
                <a:solidFill>
                  <a:srgbClr val="94A3B8"/>
                </a:solidFill>
              </a:rPr>
              <a:t>Unique drug states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333333"/>
            </a:solidFill>
            <a:prstDash val="solid"/>
          </a:ln>
        </p:spPr>
      </p:sp>
      <p:sp>
        <p:nvSpPr>
          <p:cNvPr id="3" name="Text 1"/>
          <p:cNvSpPr/>
          <p:nvPr/>
        </p:nvSpPr>
        <p:spPr>
          <a:xfrm>
            <a:off x="457200" y="0"/>
            <a:ext cx="6400800" cy="822960"/>
          </a:xfrm>
          <a:prstGeom prst="rect">
            <a:avLst/>
          </a:prstGeom>
          <a:noFill/>
          <a:ln/>
        </p:spPr>
        <p:txBody>
          <a:bodyPr wrap="square" rtlCol="0" anchor="ctr"/>
          <a:lstStyle/>
          <a:p>
            <a:pPr marL="0" indent="0">
              <a:buNone/>
            </a:pPr>
            <a:r>
              <a:rPr lang="en-US" sz="2200" b="1" dirty="0">
                <a:solidFill>
                  <a:srgbClr val="FFFFFF"/>
                </a:solidFill>
              </a:rPr>
              <a:t>The Core Insight</a:t>
            </a:r>
            <a:endParaRPr lang="en-US" sz="2200" dirty="0"/>
          </a:p>
        </p:txBody>
      </p:sp>
      <p:sp>
        <p:nvSpPr>
          <p:cNvPr id="4" name="Shape 2"/>
          <p:cNvSpPr/>
          <p:nvPr/>
        </p:nvSpPr>
        <p:spPr>
          <a:xfrm>
            <a:off x="7223760" y="228600"/>
            <a:ext cx="1645920" cy="347472"/>
          </a:xfrm>
          <a:prstGeom prst="rect">
            <a:avLst/>
          </a:prstGeom>
          <a:solidFill>
            <a:srgbClr val="0EA5E9"/>
          </a:solidFill>
          <a:ln w="12700">
            <a:solidFill>
              <a:srgbClr val="333333"/>
            </a:solidFill>
            <a:prstDash val="solid"/>
          </a:ln>
        </p:spPr>
      </p:sp>
      <p:sp>
        <p:nvSpPr>
          <p:cNvPr id="5" name="Text 3"/>
          <p:cNvSpPr/>
          <p:nvPr/>
        </p:nvSpPr>
        <p:spPr>
          <a:xfrm>
            <a:off x="7223760" y="228600"/>
            <a:ext cx="1645920" cy="347472"/>
          </a:xfrm>
          <a:prstGeom prst="rect">
            <a:avLst/>
          </a:prstGeom>
          <a:noFill/>
          <a:ln/>
        </p:spPr>
        <p:txBody>
          <a:bodyPr wrap="square" lIns="0" tIns="0" rIns="0" bIns="0" rtlCol="0" anchor="ctr"/>
          <a:lstStyle/>
          <a:p>
            <a:pPr marL="0" indent="0" algn="ctr">
              <a:buNone/>
            </a:pPr>
            <a:r>
              <a:rPr lang="en-US" sz="900" b="1" dirty="0">
                <a:solidFill>
                  <a:srgbClr val="0D0D1A"/>
                </a:solidFill>
              </a:rPr>
              <a:t>BACKGROUND</a:t>
            </a:r>
            <a:endParaRPr lang="en-US" sz="900" dirty="0"/>
          </a:p>
        </p:txBody>
      </p:sp>
      <p:sp>
        <p:nvSpPr>
          <p:cNvPr id="6" name="Shape 4"/>
          <p:cNvSpPr/>
          <p:nvPr/>
        </p:nvSpPr>
        <p:spPr>
          <a:xfrm>
            <a:off x="274320" y="960120"/>
            <a:ext cx="3931920" cy="3840480"/>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7" name="Shape 5"/>
          <p:cNvSpPr/>
          <p:nvPr/>
        </p:nvSpPr>
        <p:spPr>
          <a:xfrm>
            <a:off x="274320" y="960120"/>
            <a:ext cx="64008" cy="3840480"/>
          </a:xfrm>
          <a:prstGeom prst="rect">
            <a:avLst/>
          </a:prstGeom>
          <a:solidFill>
            <a:srgbClr val="475569"/>
          </a:solidFill>
          <a:ln w="12700">
            <a:solidFill>
              <a:srgbClr val="333333"/>
            </a:solidFill>
            <a:prstDash val="solid"/>
          </a:ln>
        </p:spPr>
      </p:sp>
      <p:sp>
        <p:nvSpPr>
          <p:cNvPr id="8" name="Text 6"/>
          <p:cNvSpPr/>
          <p:nvPr/>
        </p:nvSpPr>
        <p:spPr>
          <a:xfrm>
            <a:off x="457200" y="1051560"/>
            <a:ext cx="3566160" cy="347472"/>
          </a:xfrm>
          <a:prstGeom prst="rect">
            <a:avLst/>
          </a:prstGeom>
          <a:noFill/>
          <a:ln/>
        </p:spPr>
        <p:txBody>
          <a:bodyPr wrap="square" rtlCol="0" anchor="ctr"/>
          <a:lstStyle/>
          <a:p>
            <a:pPr marL="0" indent="0">
              <a:buNone/>
            </a:pPr>
            <a:r>
              <a:rPr lang="en-US" sz="1200" b="1" dirty="0">
                <a:solidFill>
                  <a:srgbClr val="94A3B8"/>
                </a:solidFill>
              </a:rPr>
              <a:t>How pharmacies see prescriptions today</a:t>
            </a:r>
            <a:endParaRPr lang="en-US" sz="1200" dirty="0"/>
          </a:p>
        </p:txBody>
      </p:sp>
      <p:sp>
        <p:nvSpPr>
          <p:cNvPr id="9" name="Shape 7"/>
          <p:cNvSpPr/>
          <p:nvPr/>
        </p:nvSpPr>
        <p:spPr>
          <a:xfrm>
            <a:off x="548640" y="1536192"/>
            <a:ext cx="3383280" cy="530352"/>
          </a:xfrm>
          <a:prstGeom prst="rect">
            <a:avLst/>
          </a:prstGeom>
          <a:solidFill>
            <a:srgbClr val="1C2F4A"/>
          </a:solidFill>
          <a:ln w="12700">
            <a:solidFill>
              <a:srgbClr val="333333"/>
            </a:solidFill>
            <a:prstDash val="solid"/>
          </a:ln>
        </p:spPr>
      </p:sp>
      <p:sp>
        <p:nvSpPr>
          <p:cNvPr id="10" name="Text 8"/>
          <p:cNvSpPr/>
          <p:nvPr/>
        </p:nvSpPr>
        <p:spPr>
          <a:xfrm>
            <a:off x="594360" y="1554480"/>
            <a:ext cx="3291840" cy="493776"/>
          </a:xfrm>
          <a:prstGeom prst="rect">
            <a:avLst/>
          </a:prstGeom>
          <a:noFill/>
          <a:ln/>
        </p:spPr>
        <p:txBody>
          <a:bodyPr wrap="square" rtlCol="0" anchor="ctr"/>
          <a:lstStyle/>
          <a:p>
            <a:pPr marL="0" indent="0">
              <a:buNone/>
            </a:pPr>
            <a:r>
              <a:rPr lang="en-US" sz="1100" dirty="0">
                <a:solidFill>
                  <a:srgbClr val="94A3B8"/>
                </a:solidFill>
              </a:rPr>
              <a:t>Metformin fill</a:t>
            </a:r>
            <a:endParaRPr lang="en-US" sz="1100" dirty="0"/>
          </a:p>
        </p:txBody>
      </p:sp>
      <p:sp>
        <p:nvSpPr>
          <p:cNvPr id="11" name="Shape 9"/>
          <p:cNvSpPr/>
          <p:nvPr/>
        </p:nvSpPr>
        <p:spPr>
          <a:xfrm>
            <a:off x="548640" y="2212848"/>
            <a:ext cx="3383280" cy="530352"/>
          </a:xfrm>
          <a:prstGeom prst="rect">
            <a:avLst/>
          </a:prstGeom>
          <a:solidFill>
            <a:srgbClr val="1C2F4A"/>
          </a:solidFill>
          <a:ln w="12700">
            <a:solidFill>
              <a:srgbClr val="333333"/>
            </a:solidFill>
            <a:prstDash val="solid"/>
          </a:ln>
        </p:spPr>
      </p:sp>
      <p:sp>
        <p:nvSpPr>
          <p:cNvPr id="12" name="Text 10"/>
          <p:cNvSpPr/>
          <p:nvPr/>
        </p:nvSpPr>
        <p:spPr>
          <a:xfrm>
            <a:off x="594360" y="2231136"/>
            <a:ext cx="3291840" cy="493776"/>
          </a:xfrm>
          <a:prstGeom prst="rect">
            <a:avLst/>
          </a:prstGeom>
          <a:noFill/>
          <a:ln/>
        </p:spPr>
        <p:txBody>
          <a:bodyPr wrap="square" rtlCol="0" anchor="ctr"/>
          <a:lstStyle/>
          <a:p>
            <a:pPr marL="0" indent="0">
              <a:buNone/>
            </a:pPr>
            <a:r>
              <a:rPr lang="en-US" sz="1100" dirty="0">
                <a:solidFill>
                  <a:srgbClr val="94A3B8"/>
                </a:solidFill>
              </a:rPr>
              <a:t>Metformin refill</a:t>
            </a:r>
            <a:endParaRPr lang="en-US" sz="1100" dirty="0"/>
          </a:p>
        </p:txBody>
      </p:sp>
      <p:sp>
        <p:nvSpPr>
          <p:cNvPr id="13" name="Shape 11"/>
          <p:cNvSpPr/>
          <p:nvPr/>
        </p:nvSpPr>
        <p:spPr>
          <a:xfrm>
            <a:off x="548640" y="2889504"/>
            <a:ext cx="3383280" cy="530352"/>
          </a:xfrm>
          <a:prstGeom prst="rect">
            <a:avLst/>
          </a:prstGeom>
          <a:solidFill>
            <a:srgbClr val="1C2F4A"/>
          </a:solidFill>
          <a:ln w="12700">
            <a:solidFill>
              <a:srgbClr val="333333"/>
            </a:solidFill>
            <a:prstDash val="solid"/>
          </a:ln>
        </p:spPr>
      </p:sp>
      <p:sp>
        <p:nvSpPr>
          <p:cNvPr id="14" name="Text 12"/>
          <p:cNvSpPr/>
          <p:nvPr/>
        </p:nvSpPr>
        <p:spPr>
          <a:xfrm>
            <a:off x="594360" y="2907792"/>
            <a:ext cx="3291840" cy="493776"/>
          </a:xfrm>
          <a:prstGeom prst="rect">
            <a:avLst/>
          </a:prstGeom>
          <a:noFill/>
          <a:ln/>
        </p:spPr>
        <p:txBody>
          <a:bodyPr wrap="square" rtlCol="0" anchor="ctr"/>
          <a:lstStyle/>
          <a:p>
            <a:pPr marL="0" indent="0">
              <a:buNone/>
            </a:pPr>
            <a:r>
              <a:rPr lang="en-US" sz="1100" dirty="0">
                <a:solidFill>
                  <a:srgbClr val="94A3B8"/>
                </a:solidFill>
              </a:rPr>
              <a:t>Metformin refill</a:t>
            </a:r>
            <a:endParaRPr lang="en-US" sz="1100" dirty="0"/>
          </a:p>
        </p:txBody>
      </p:sp>
      <p:sp>
        <p:nvSpPr>
          <p:cNvPr id="15" name="Shape 13"/>
          <p:cNvSpPr/>
          <p:nvPr/>
        </p:nvSpPr>
        <p:spPr>
          <a:xfrm>
            <a:off x="548640" y="3566160"/>
            <a:ext cx="3383280" cy="530352"/>
          </a:xfrm>
          <a:prstGeom prst="rect">
            <a:avLst/>
          </a:prstGeom>
          <a:solidFill>
            <a:srgbClr val="475569"/>
          </a:solidFill>
          <a:ln w="12700">
            <a:solidFill>
              <a:srgbClr val="333333"/>
            </a:solidFill>
            <a:prstDash val="solid"/>
          </a:ln>
        </p:spPr>
      </p:sp>
      <p:sp>
        <p:nvSpPr>
          <p:cNvPr id="16" name="Text 14"/>
          <p:cNvSpPr/>
          <p:nvPr/>
        </p:nvSpPr>
        <p:spPr>
          <a:xfrm>
            <a:off x="594360" y="3584448"/>
            <a:ext cx="3291840" cy="493776"/>
          </a:xfrm>
          <a:prstGeom prst="rect">
            <a:avLst/>
          </a:prstGeom>
          <a:noFill/>
          <a:ln/>
        </p:spPr>
        <p:txBody>
          <a:bodyPr wrap="square" rtlCol="0" anchor="ctr"/>
          <a:lstStyle/>
          <a:p>
            <a:pPr marL="0" indent="0">
              <a:buNone/>
            </a:pPr>
            <a:r>
              <a:rPr lang="en-US" sz="1100" i="1" dirty="0">
                <a:solidFill>
                  <a:srgbClr val="475569"/>
                </a:solidFill>
              </a:rPr>
              <a:t>What comes next?</a:t>
            </a:r>
            <a:endParaRPr lang="en-US" sz="1100" dirty="0"/>
          </a:p>
        </p:txBody>
      </p:sp>
      <p:sp>
        <p:nvSpPr>
          <p:cNvPr id="17" name="Text 15"/>
          <p:cNvSpPr/>
          <p:nvPr/>
        </p:nvSpPr>
        <p:spPr>
          <a:xfrm>
            <a:off x="457200" y="4160520"/>
            <a:ext cx="3474720" cy="502920"/>
          </a:xfrm>
          <a:prstGeom prst="rect">
            <a:avLst/>
          </a:prstGeom>
          <a:noFill/>
          <a:ln/>
        </p:spPr>
        <p:txBody>
          <a:bodyPr wrap="square" rtlCol="0" anchor="ctr"/>
          <a:lstStyle/>
          <a:p>
            <a:pPr marL="0" indent="0">
              <a:buNone/>
            </a:pPr>
            <a:r>
              <a:rPr lang="en-US" sz="950" i="1" dirty="0">
                <a:solidFill>
                  <a:srgbClr val="475569"/>
                </a:solidFill>
              </a:rPr>
              <a:t>Each fill is treated as an isolated event — no memory, no context, no journey.</a:t>
            </a:r>
            <a:endParaRPr lang="en-US" sz="950" dirty="0"/>
          </a:p>
        </p:txBody>
      </p:sp>
      <p:sp>
        <p:nvSpPr>
          <p:cNvPr id="19" name="Text 17"/>
          <p:cNvSpPr/>
          <p:nvPr/>
        </p:nvSpPr>
        <p:spPr>
          <a:xfrm>
            <a:off x="4251960" y="2377440"/>
            <a:ext cx="548640" cy="411480"/>
          </a:xfrm>
          <a:prstGeom prst="rect">
            <a:avLst/>
          </a:prstGeom>
          <a:noFill/>
          <a:ln/>
        </p:spPr>
        <p:txBody>
          <a:bodyPr wrap="square" rtlCol="0" anchor="ctr"/>
          <a:lstStyle/>
          <a:p>
            <a:pPr marL="0" indent="0" algn="ctr">
              <a:buNone/>
            </a:pPr>
            <a:r>
              <a:rPr lang="en-US" sz="2800" b="1" dirty="0">
                <a:solidFill>
                  <a:srgbClr val="0EA5E9"/>
                </a:solidFill>
              </a:rPr>
              <a:t>→</a:t>
            </a:r>
            <a:endParaRPr lang="en-US" sz="2800" dirty="0"/>
          </a:p>
        </p:txBody>
      </p:sp>
      <p:sp>
        <p:nvSpPr>
          <p:cNvPr id="20" name="Shape 18"/>
          <p:cNvSpPr/>
          <p:nvPr/>
        </p:nvSpPr>
        <p:spPr>
          <a:xfrm>
            <a:off x="4800600" y="960120"/>
            <a:ext cx="4069080" cy="3840480"/>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21" name="Shape 19"/>
          <p:cNvSpPr/>
          <p:nvPr/>
        </p:nvSpPr>
        <p:spPr>
          <a:xfrm>
            <a:off x="4800600" y="960120"/>
            <a:ext cx="64008" cy="3840480"/>
          </a:xfrm>
          <a:prstGeom prst="rect">
            <a:avLst/>
          </a:prstGeom>
          <a:solidFill>
            <a:srgbClr val="0EA5E9"/>
          </a:solidFill>
          <a:ln w="12700">
            <a:solidFill>
              <a:srgbClr val="333333"/>
            </a:solidFill>
            <a:prstDash val="solid"/>
          </a:ln>
        </p:spPr>
      </p:sp>
      <p:sp>
        <p:nvSpPr>
          <p:cNvPr id="22" name="Text 20"/>
          <p:cNvSpPr/>
          <p:nvPr/>
        </p:nvSpPr>
        <p:spPr>
          <a:xfrm>
            <a:off x="4983480" y="1051560"/>
            <a:ext cx="3749040" cy="347472"/>
          </a:xfrm>
          <a:prstGeom prst="rect">
            <a:avLst/>
          </a:prstGeom>
          <a:noFill/>
          <a:ln/>
        </p:spPr>
        <p:txBody>
          <a:bodyPr wrap="square" rtlCol="0" anchor="ctr"/>
          <a:lstStyle/>
          <a:p>
            <a:pPr marL="0" indent="0">
              <a:buNone/>
            </a:pPr>
            <a:r>
              <a:rPr lang="en-US" sz="1200" b="1" dirty="0">
                <a:solidFill>
                  <a:srgbClr val="0EA5E9"/>
                </a:solidFill>
              </a:rPr>
              <a:t>What prescriptions actually are: a journey</a:t>
            </a:r>
            <a:endParaRPr lang="en-US" sz="1200" dirty="0"/>
          </a:p>
        </p:txBody>
      </p:sp>
      <p:sp>
        <p:nvSpPr>
          <p:cNvPr id="23" name="Shape 21"/>
          <p:cNvSpPr/>
          <p:nvPr/>
        </p:nvSpPr>
        <p:spPr>
          <a:xfrm>
            <a:off x="4983480" y="1536192"/>
            <a:ext cx="3657600" cy="530352"/>
          </a:xfrm>
          <a:prstGeom prst="rect">
            <a:avLst/>
          </a:prstGeom>
          <a:solidFill>
            <a:srgbClr val="1A2744"/>
          </a:solidFill>
          <a:ln w="12700">
            <a:solidFill>
              <a:srgbClr val="333333"/>
            </a:solidFill>
            <a:prstDash val="solid"/>
          </a:ln>
        </p:spPr>
      </p:sp>
      <p:sp>
        <p:nvSpPr>
          <p:cNvPr id="24" name="Shape 22"/>
          <p:cNvSpPr/>
          <p:nvPr/>
        </p:nvSpPr>
        <p:spPr>
          <a:xfrm>
            <a:off x="4983480" y="1536192"/>
            <a:ext cx="45720" cy="530352"/>
          </a:xfrm>
          <a:prstGeom prst="rect">
            <a:avLst/>
          </a:prstGeom>
          <a:solidFill>
            <a:srgbClr val="0EA5E9"/>
          </a:solidFill>
          <a:ln w="12700">
            <a:solidFill>
              <a:srgbClr val="333333"/>
            </a:solidFill>
            <a:prstDash val="solid"/>
          </a:ln>
        </p:spPr>
      </p:sp>
      <p:sp>
        <p:nvSpPr>
          <p:cNvPr id="25" name="Text 23"/>
          <p:cNvSpPr/>
          <p:nvPr/>
        </p:nvSpPr>
        <p:spPr>
          <a:xfrm>
            <a:off x="5102352" y="1572768"/>
            <a:ext cx="1828800" cy="256032"/>
          </a:xfrm>
          <a:prstGeom prst="rect">
            <a:avLst/>
          </a:prstGeom>
          <a:noFill/>
          <a:ln/>
        </p:spPr>
        <p:txBody>
          <a:bodyPr wrap="square" rtlCol="0" anchor="ctr"/>
          <a:lstStyle/>
          <a:p>
            <a:pPr marL="0" indent="0">
              <a:buNone/>
            </a:pPr>
            <a:r>
              <a:rPr lang="en-US" sz="1100" b="1" dirty="0">
                <a:solidFill>
                  <a:srgbClr val="FFFFFF"/>
                </a:solidFill>
              </a:rPr>
              <a:t>Metformin</a:t>
            </a:r>
            <a:endParaRPr lang="en-US" sz="1100" dirty="0"/>
          </a:p>
        </p:txBody>
      </p:sp>
      <p:sp>
        <p:nvSpPr>
          <p:cNvPr id="26" name="Text 24"/>
          <p:cNvSpPr/>
          <p:nvPr/>
        </p:nvSpPr>
        <p:spPr>
          <a:xfrm>
            <a:off x="5102352" y="1828800"/>
            <a:ext cx="3383280" cy="201168"/>
          </a:xfrm>
          <a:prstGeom prst="rect">
            <a:avLst/>
          </a:prstGeom>
          <a:noFill/>
          <a:ln/>
        </p:spPr>
        <p:txBody>
          <a:bodyPr wrap="square" rtlCol="0" anchor="ctr"/>
          <a:lstStyle/>
          <a:p>
            <a:pPr marL="0" indent="0">
              <a:buNone/>
            </a:pPr>
            <a:r>
              <a:rPr lang="en-US" sz="900" dirty="0">
                <a:solidFill>
                  <a:srgbClr val="94A3B8"/>
                </a:solidFill>
              </a:rPr>
              <a:t>Diabetes Dx</a:t>
            </a:r>
            <a:endParaRPr lang="en-US" sz="900" dirty="0"/>
          </a:p>
        </p:txBody>
      </p:sp>
      <p:sp>
        <p:nvSpPr>
          <p:cNvPr id="27" name="Text 25"/>
          <p:cNvSpPr/>
          <p:nvPr/>
        </p:nvSpPr>
        <p:spPr>
          <a:xfrm>
            <a:off x="6583680" y="2011680"/>
            <a:ext cx="274320" cy="219456"/>
          </a:xfrm>
          <a:prstGeom prst="rect">
            <a:avLst/>
          </a:prstGeom>
          <a:noFill/>
          <a:ln/>
        </p:spPr>
        <p:txBody>
          <a:bodyPr wrap="square" rtlCol="0" anchor="ctr"/>
          <a:lstStyle/>
          <a:p>
            <a:pPr marL="0" indent="0" algn="ctr">
              <a:buNone/>
            </a:pPr>
            <a:r>
              <a:rPr lang="en-US" sz="1000" dirty="0">
                <a:solidFill>
                  <a:srgbClr val="0EA5E9"/>
                </a:solidFill>
              </a:rPr>
              <a:t>↓</a:t>
            </a:r>
            <a:endParaRPr lang="en-US" sz="1000" dirty="0"/>
          </a:p>
        </p:txBody>
      </p:sp>
      <p:sp>
        <p:nvSpPr>
          <p:cNvPr id="28" name="Shape 26"/>
          <p:cNvSpPr/>
          <p:nvPr/>
        </p:nvSpPr>
        <p:spPr>
          <a:xfrm>
            <a:off x="4983480" y="2212848"/>
            <a:ext cx="3657600" cy="530352"/>
          </a:xfrm>
          <a:prstGeom prst="rect">
            <a:avLst/>
          </a:prstGeom>
          <a:solidFill>
            <a:srgbClr val="1A2744"/>
          </a:solidFill>
          <a:ln w="12700">
            <a:solidFill>
              <a:srgbClr val="333333"/>
            </a:solidFill>
            <a:prstDash val="solid"/>
          </a:ln>
        </p:spPr>
      </p:sp>
      <p:sp>
        <p:nvSpPr>
          <p:cNvPr id="29" name="Shape 27"/>
          <p:cNvSpPr/>
          <p:nvPr/>
        </p:nvSpPr>
        <p:spPr>
          <a:xfrm>
            <a:off x="4983480" y="2212848"/>
            <a:ext cx="45720" cy="530352"/>
          </a:xfrm>
          <a:prstGeom prst="rect">
            <a:avLst/>
          </a:prstGeom>
          <a:solidFill>
            <a:srgbClr val="10B981"/>
          </a:solidFill>
          <a:ln w="12700">
            <a:solidFill>
              <a:srgbClr val="333333"/>
            </a:solidFill>
            <a:prstDash val="solid"/>
          </a:ln>
        </p:spPr>
      </p:sp>
      <p:sp>
        <p:nvSpPr>
          <p:cNvPr id="30" name="Text 28"/>
          <p:cNvSpPr/>
          <p:nvPr/>
        </p:nvSpPr>
        <p:spPr>
          <a:xfrm>
            <a:off x="5102352" y="2249424"/>
            <a:ext cx="1828800" cy="256032"/>
          </a:xfrm>
          <a:prstGeom prst="rect">
            <a:avLst/>
          </a:prstGeom>
          <a:noFill/>
          <a:ln/>
        </p:spPr>
        <p:txBody>
          <a:bodyPr wrap="square" rtlCol="0" anchor="ctr"/>
          <a:lstStyle/>
          <a:p>
            <a:pPr marL="0" indent="0">
              <a:buNone/>
            </a:pPr>
            <a:r>
              <a:rPr lang="en-US" sz="1100" b="1" dirty="0">
                <a:solidFill>
                  <a:srgbClr val="FFFFFF"/>
                </a:solidFill>
              </a:rPr>
              <a:t>+ Lisinopril</a:t>
            </a:r>
            <a:endParaRPr lang="en-US" sz="1100" dirty="0"/>
          </a:p>
        </p:txBody>
      </p:sp>
      <p:sp>
        <p:nvSpPr>
          <p:cNvPr id="31" name="Text 29"/>
          <p:cNvSpPr/>
          <p:nvPr/>
        </p:nvSpPr>
        <p:spPr>
          <a:xfrm>
            <a:off x="5102352" y="2505456"/>
            <a:ext cx="3383280" cy="201168"/>
          </a:xfrm>
          <a:prstGeom prst="rect">
            <a:avLst/>
          </a:prstGeom>
          <a:noFill/>
          <a:ln/>
        </p:spPr>
        <p:txBody>
          <a:bodyPr wrap="square" rtlCol="0" anchor="ctr"/>
          <a:lstStyle/>
          <a:p>
            <a:pPr marL="0" indent="0">
              <a:buNone/>
            </a:pPr>
            <a:r>
              <a:rPr lang="en-US" sz="900" dirty="0">
                <a:solidFill>
                  <a:srgbClr val="94A3B8"/>
                </a:solidFill>
              </a:rPr>
              <a:t>BP added</a:t>
            </a:r>
            <a:endParaRPr lang="en-US" sz="900" dirty="0"/>
          </a:p>
        </p:txBody>
      </p:sp>
      <p:sp>
        <p:nvSpPr>
          <p:cNvPr id="32" name="Text 30"/>
          <p:cNvSpPr/>
          <p:nvPr/>
        </p:nvSpPr>
        <p:spPr>
          <a:xfrm>
            <a:off x="6583680" y="2688336"/>
            <a:ext cx="274320" cy="219456"/>
          </a:xfrm>
          <a:prstGeom prst="rect">
            <a:avLst/>
          </a:prstGeom>
          <a:noFill/>
          <a:ln/>
        </p:spPr>
        <p:txBody>
          <a:bodyPr wrap="square" rtlCol="0" anchor="ctr"/>
          <a:lstStyle/>
          <a:p>
            <a:pPr marL="0" indent="0" algn="ctr">
              <a:buNone/>
            </a:pPr>
            <a:r>
              <a:rPr lang="en-US" sz="1000" dirty="0">
                <a:solidFill>
                  <a:srgbClr val="0EA5E9"/>
                </a:solidFill>
              </a:rPr>
              <a:t>↓</a:t>
            </a:r>
            <a:endParaRPr lang="en-US" sz="1000" dirty="0"/>
          </a:p>
        </p:txBody>
      </p:sp>
      <p:sp>
        <p:nvSpPr>
          <p:cNvPr id="33" name="Shape 31"/>
          <p:cNvSpPr/>
          <p:nvPr/>
        </p:nvSpPr>
        <p:spPr>
          <a:xfrm>
            <a:off x="4983480" y="2889504"/>
            <a:ext cx="3657600" cy="530352"/>
          </a:xfrm>
          <a:prstGeom prst="rect">
            <a:avLst/>
          </a:prstGeom>
          <a:solidFill>
            <a:srgbClr val="1A2744"/>
          </a:solidFill>
          <a:ln w="12700">
            <a:solidFill>
              <a:srgbClr val="333333"/>
            </a:solidFill>
            <a:prstDash val="solid"/>
          </a:ln>
        </p:spPr>
      </p:sp>
      <p:sp>
        <p:nvSpPr>
          <p:cNvPr id="34" name="Shape 32"/>
          <p:cNvSpPr/>
          <p:nvPr/>
        </p:nvSpPr>
        <p:spPr>
          <a:xfrm>
            <a:off x="4983480" y="2889504"/>
            <a:ext cx="45720" cy="530352"/>
          </a:xfrm>
          <a:prstGeom prst="rect">
            <a:avLst/>
          </a:prstGeom>
          <a:solidFill>
            <a:srgbClr val="F59E0B"/>
          </a:solidFill>
          <a:ln w="12700">
            <a:solidFill>
              <a:srgbClr val="333333"/>
            </a:solidFill>
            <a:prstDash val="solid"/>
          </a:ln>
        </p:spPr>
      </p:sp>
      <p:sp>
        <p:nvSpPr>
          <p:cNvPr id="35" name="Text 33"/>
          <p:cNvSpPr/>
          <p:nvPr/>
        </p:nvSpPr>
        <p:spPr>
          <a:xfrm>
            <a:off x="5102352" y="2926080"/>
            <a:ext cx="1828800" cy="256032"/>
          </a:xfrm>
          <a:prstGeom prst="rect">
            <a:avLst/>
          </a:prstGeom>
          <a:noFill/>
          <a:ln/>
        </p:spPr>
        <p:txBody>
          <a:bodyPr wrap="square" rtlCol="0" anchor="ctr"/>
          <a:lstStyle/>
          <a:p>
            <a:pPr marL="0" indent="0">
              <a:buNone/>
            </a:pPr>
            <a:r>
              <a:rPr lang="en-US" sz="1100" b="1" dirty="0">
                <a:solidFill>
                  <a:srgbClr val="FFFFFF"/>
                </a:solidFill>
              </a:rPr>
              <a:t>+ Atorvastatin</a:t>
            </a:r>
            <a:endParaRPr lang="en-US" sz="1100" dirty="0"/>
          </a:p>
        </p:txBody>
      </p:sp>
      <p:sp>
        <p:nvSpPr>
          <p:cNvPr id="36" name="Text 34"/>
          <p:cNvSpPr/>
          <p:nvPr/>
        </p:nvSpPr>
        <p:spPr>
          <a:xfrm>
            <a:off x="5102352" y="3182112"/>
            <a:ext cx="3383280" cy="201168"/>
          </a:xfrm>
          <a:prstGeom prst="rect">
            <a:avLst/>
          </a:prstGeom>
          <a:noFill/>
          <a:ln/>
        </p:spPr>
        <p:txBody>
          <a:bodyPr wrap="square" rtlCol="0" anchor="ctr"/>
          <a:lstStyle/>
          <a:p>
            <a:pPr marL="0" indent="0">
              <a:buNone/>
            </a:pPr>
            <a:r>
              <a:rPr lang="en-US" sz="900" dirty="0">
                <a:solidFill>
                  <a:srgbClr val="94A3B8"/>
                </a:solidFill>
              </a:rPr>
              <a:t>Cholesterol added</a:t>
            </a:r>
            <a:endParaRPr lang="en-US" sz="900" dirty="0"/>
          </a:p>
        </p:txBody>
      </p:sp>
      <p:sp>
        <p:nvSpPr>
          <p:cNvPr id="37" name="Text 35"/>
          <p:cNvSpPr/>
          <p:nvPr/>
        </p:nvSpPr>
        <p:spPr>
          <a:xfrm>
            <a:off x="6583680" y="3364992"/>
            <a:ext cx="274320" cy="219456"/>
          </a:xfrm>
          <a:prstGeom prst="rect">
            <a:avLst/>
          </a:prstGeom>
          <a:noFill/>
          <a:ln/>
        </p:spPr>
        <p:txBody>
          <a:bodyPr wrap="square" rtlCol="0" anchor="ctr"/>
          <a:lstStyle/>
          <a:p>
            <a:pPr marL="0" indent="0" algn="ctr">
              <a:buNone/>
            </a:pPr>
            <a:r>
              <a:rPr lang="en-US" sz="1000" dirty="0">
                <a:solidFill>
                  <a:srgbClr val="0EA5E9"/>
                </a:solidFill>
              </a:rPr>
              <a:t>↓</a:t>
            </a:r>
            <a:endParaRPr lang="en-US" sz="1000" dirty="0"/>
          </a:p>
        </p:txBody>
      </p:sp>
      <p:sp>
        <p:nvSpPr>
          <p:cNvPr id="38" name="Shape 36"/>
          <p:cNvSpPr/>
          <p:nvPr/>
        </p:nvSpPr>
        <p:spPr>
          <a:xfrm>
            <a:off x="4983480" y="3566160"/>
            <a:ext cx="3657600" cy="530352"/>
          </a:xfrm>
          <a:prstGeom prst="rect">
            <a:avLst/>
          </a:prstGeom>
          <a:solidFill>
            <a:srgbClr val="1A2744"/>
          </a:solidFill>
          <a:ln w="12700">
            <a:solidFill>
              <a:srgbClr val="333333"/>
            </a:solidFill>
            <a:prstDash val="solid"/>
          </a:ln>
        </p:spPr>
      </p:sp>
      <p:sp>
        <p:nvSpPr>
          <p:cNvPr id="39" name="Shape 37"/>
          <p:cNvSpPr/>
          <p:nvPr/>
        </p:nvSpPr>
        <p:spPr>
          <a:xfrm>
            <a:off x="4983480" y="3566160"/>
            <a:ext cx="45720" cy="530352"/>
          </a:xfrm>
          <a:prstGeom prst="rect">
            <a:avLst/>
          </a:prstGeom>
          <a:solidFill>
            <a:srgbClr val="F43F5E"/>
          </a:solidFill>
          <a:ln w="12700">
            <a:solidFill>
              <a:srgbClr val="333333"/>
            </a:solidFill>
            <a:prstDash val="solid"/>
          </a:ln>
        </p:spPr>
      </p:sp>
      <p:sp>
        <p:nvSpPr>
          <p:cNvPr id="40" name="Text 38"/>
          <p:cNvSpPr/>
          <p:nvPr/>
        </p:nvSpPr>
        <p:spPr>
          <a:xfrm>
            <a:off x="5102352" y="3602736"/>
            <a:ext cx="1828800" cy="256032"/>
          </a:xfrm>
          <a:prstGeom prst="rect">
            <a:avLst/>
          </a:prstGeom>
          <a:noFill/>
          <a:ln/>
        </p:spPr>
        <p:txBody>
          <a:bodyPr wrap="square" rtlCol="0" anchor="ctr"/>
          <a:lstStyle/>
          <a:p>
            <a:pPr marL="0" indent="0">
              <a:buNone/>
            </a:pPr>
            <a:r>
              <a:rPr lang="en-US" sz="1100" b="1" dirty="0">
                <a:solidFill>
                  <a:srgbClr val="FFFFFF"/>
                </a:solidFill>
              </a:rPr>
              <a:t>→ Pregabalin?</a:t>
            </a:r>
            <a:endParaRPr lang="en-US" sz="1100" dirty="0"/>
          </a:p>
        </p:txBody>
      </p:sp>
      <p:sp>
        <p:nvSpPr>
          <p:cNvPr id="41" name="Text 39"/>
          <p:cNvSpPr/>
          <p:nvPr/>
        </p:nvSpPr>
        <p:spPr>
          <a:xfrm>
            <a:off x="5102352" y="3858768"/>
            <a:ext cx="3383280" cy="201168"/>
          </a:xfrm>
          <a:prstGeom prst="rect">
            <a:avLst/>
          </a:prstGeom>
          <a:noFill/>
          <a:ln/>
        </p:spPr>
        <p:txBody>
          <a:bodyPr wrap="square" rtlCol="0" anchor="ctr"/>
          <a:lstStyle/>
          <a:p>
            <a:pPr marL="0" indent="0">
              <a:buNone/>
            </a:pPr>
            <a:r>
              <a:rPr lang="en-US" sz="900" dirty="0">
                <a:solidFill>
                  <a:srgbClr val="94A3B8"/>
                </a:solidFill>
              </a:rPr>
              <a:t>Neuropathy risk</a:t>
            </a:r>
            <a:endParaRPr lang="en-US" sz="900" dirty="0"/>
          </a:p>
        </p:txBody>
      </p:sp>
      <p:sp>
        <p:nvSpPr>
          <p:cNvPr id="42" name="Text 40"/>
          <p:cNvSpPr/>
          <p:nvPr/>
        </p:nvSpPr>
        <p:spPr>
          <a:xfrm>
            <a:off x="4983480" y="4160520"/>
            <a:ext cx="3657600" cy="502920"/>
          </a:xfrm>
          <a:prstGeom prst="rect">
            <a:avLst/>
          </a:prstGeom>
          <a:noFill/>
          <a:ln/>
        </p:spPr>
        <p:txBody>
          <a:bodyPr wrap="square" rtlCol="0" anchor="ctr"/>
          <a:lstStyle/>
          <a:p>
            <a:pPr marL="0" indent="0">
              <a:buNone/>
            </a:pPr>
            <a:r>
              <a:rPr lang="en-US" sz="950" i="1" dirty="0">
                <a:solidFill>
                  <a:srgbClr val="0EA5E9"/>
                </a:solidFill>
              </a:rPr>
              <a:t>Our engine reads the full sequence and predicts the next clinical step.</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333333"/>
            </a:solidFill>
            <a:prstDash val="solid"/>
          </a:ln>
        </p:spPr>
      </p:sp>
      <p:sp>
        <p:nvSpPr>
          <p:cNvPr id="3" name="Text 1"/>
          <p:cNvSpPr/>
          <p:nvPr/>
        </p:nvSpPr>
        <p:spPr>
          <a:xfrm>
            <a:off x="457200" y="0"/>
            <a:ext cx="6400800" cy="822960"/>
          </a:xfrm>
          <a:prstGeom prst="rect">
            <a:avLst/>
          </a:prstGeom>
          <a:noFill/>
          <a:ln/>
        </p:spPr>
        <p:txBody>
          <a:bodyPr wrap="square" rtlCol="0" anchor="ctr"/>
          <a:lstStyle/>
          <a:p>
            <a:pPr marL="0" indent="0">
              <a:buNone/>
            </a:pPr>
            <a:r>
              <a:rPr lang="en-US" sz="2200" b="1" dirty="0">
                <a:solidFill>
                  <a:srgbClr val="FFFFFF"/>
                </a:solidFill>
              </a:rPr>
              <a:t>How the Engine Works</a:t>
            </a:r>
            <a:endParaRPr lang="en-US" sz="2200" dirty="0"/>
          </a:p>
        </p:txBody>
      </p:sp>
      <p:sp>
        <p:nvSpPr>
          <p:cNvPr id="4" name="Shape 2"/>
          <p:cNvSpPr/>
          <p:nvPr/>
        </p:nvSpPr>
        <p:spPr>
          <a:xfrm>
            <a:off x="6949440" y="228600"/>
            <a:ext cx="1920240" cy="347472"/>
          </a:xfrm>
          <a:prstGeom prst="rect">
            <a:avLst/>
          </a:prstGeom>
          <a:solidFill>
            <a:srgbClr val="10B981"/>
          </a:solidFill>
          <a:ln w="12700">
            <a:solidFill>
              <a:srgbClr val="333333"/>
            </a:solidFill>
            <a:prstDash val="solid"/>
          </a:ln>
        </p:spPr>
      </p:sp>
      <p:sp>
        <p:nvSpPr>
          <p:cNvPr id="5" name="Text 3"/>
          <p:cNvSpPr/>
          <p:nvPr/>
        </p:nvSpPr>
        <p:spPr>
          <a:xfrm>
            <a:off x="6949440" y="228600"/>
            <a:ext cx="1920240" cy="347472"/>
          </a:xfrm>
          <a:prstGeom prst="rect">
            <a:avLst/>
          </a:prstGeom>
          <a:noFill/>
          <a:ln/>
        </p:spPr>
        <p:txBody>
          <a:bodyPr wrap="square" lIns="0" tIns="0" rIns="0" bIns="0" rtlCol="0" anchor="ctr"/>
          <a:lstStyle/>
          <a:p>
            <a:pPr marL="0" indent="0" algn="ctr">
              <a:buNone/>
            </a:pPr>
            <a:r>
              <a:rPr lang="en-US" sz="900" b="1" dirty="0">
                <a:solidFill>
                  <a:srgbClr val="0D0D1A"/>
                </a:solidFill>
              </a:rPr>
              <a:t>ARCHITECTURE</a:t>
            </a:r>
            <a:endParaRPr lang="en-US" sz="900" dirty="0"/>
          </a:p>
        </p:txBody>
      </p:sp>
      <p:sp>
        <p:nvSpPr>
          <p:cNvPr id="6" name="Shape 4"/>
          <p:cNvSpPr/>
          <p:nvPr/>
        </p:nvSpPr>
        <p:spPr>
          <a:xfrm>
            <a:off x="274320" y="960120"/>
            <a:ext cx="2788920" cy="1920240"/>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7" name="Shape 5"/>
          <p:cNvSpPr/>
          <p:nvPr/>
        </p:nvSpPr>
        <p:spPr>
          <a:xfrm>
            <a:off x="274320" y="960120"/>
            <a:ext cx="2788920" cy="54864"/>
          </a:xfrm>
          <a:prstGeom prst="rect">
            <a:avLst/>
          </a:prstGeom>
          <a:solidFill>
            <a:srgbClr val="0EA5E9"/>
          </a:solidFill>
          <a:ln w="12700">
            <a:solidFill>
              <a:srgbClr val="333333"/>
            </a:solidFill>
            <a:prstDash val="solid"/>
          </a:ln>
        </p:spPr>
      </p:sp>
      <p:sp>
        <p:nvSpPr>
          <p:cNvPr id="8" name="Text 6"/>
          <p:cNvSpPr/>
          <p:nvPr/>
        </p:nvSpPr>
        <p:spPr>
          <a:xfrm>
            <a:off x="384048" y="1051560"/>
            <a:ext cx="457200" cy="347472"/>
          </a:xfrm>
          <a:prstGeom prst="rect">
            <a:avLst/>
          </a:prstGeom>
          <a:noFill/>
          <a:ln/>
        </p:spPr>
        <p:txBody>
          <a:bodyPr wrap="square" rtlCol="0" anchor="ctr"/>
          <a:lstStyle/>
          <a:p>
            <a:pPr marL="0" indent="0">
              <a:buNone/>
            </a:pPr>
            <a:r>
              <a:rPr lang="en-US" sz="2200" b="1" dirty="0">
                <a:solidFill>
                  <a:srgbClr val="0EA5E9"/>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841248" y="1078992"/>
            <a:ext cx="2084832" cy="292608"/>
          </a:xfrm>
          <a:prstGeom prst="rect">
            <a:avLst/>
          </a:prstGeom>
          <a:noFill/>
          <a:ln/>
        </p:spPr>
        <p:txBody>
          <a:bodyPr wrap="square" rtlCol="0" anchor="ctr"/>
          <a:lstStyle/>
          <a:p>
            <a:pPr marL="0" indent="0">
              <a:buNone/>
            </a:pPr>
            <a:r>
              <a:rPr lang="en-US" sz="1200" b="1" dirty="0">
                <a:solidFill>
                  <a:srgbClr val="FFFFFF"/>
                </a:solidFill>
              </a:rPr>
              <a:t>Ingest &amp; Merge</a:t>
            </a:r>
            <a:endParaRPr lang="en-US" sz="1200" dirty="0"/>
          </a:p>
        </p:txBody>
      </p:sp>
      <p:sp>
        <p:nvSpPr>
          <p:cNvPr id="10" name="Text 8"/>
          <p:cNvSpPr/>
          <p:nvPr/>
        </p:nvSpPr>
        <p:spPr>
          <a:xfrm>
            <a:off x="384048" y="1463040"/>
            <a:ext cx="2560320" cy="1261872"/>
          </a:xfrm>
          <a:prstGeom prst="rect">
            <a:avLst/>
          </a:prstGeom>
          <a:noFill/>
          <a:ln/>
        </p:spPr>
        <p:txBody>
          <a:bodyPr wrap="square" rtlCol="0" anchor="ctr"/>
          <a:lstStyle/>
          <a:p>
            <a:pPr marL="0" indent="0">
              <a:buNone/>
            </a:pPr>
            <a:r>
              <a:rPr lang="en-US" sz="950" dirty="0">
                <a:solidFill>
                  <a:srgbClr val="94A3B8"/>
                </a:solidFill>
              </a:rPr>
              <a:t>5.2M PDE records + Beneficiary files (2008–2010) joined year-by-year — so chronic disease flags match the patient's state at time of dispensing.</a:t>
            </a:r>
            <a:endParaRPr lang="en-US" sz="950" dirty="0"/>
          </a:p>
        </p:txBody>
      </p:sp>
      <p:sp>
        <p:nvSpPr>
          <p:cNvPr id="11" name="Text 9"/>
          <p:cNvSpPr/>
          <p:nvPr/>
        </p:nvSpPr>
        <p:spPr>
          <a:xfrm>
            <a:off x="3081528" y="1691640"/>
            <a:ext cx="128016" cy="292608"/>
          </a:xfrm>
          <a:prstGeom prst="rect">
            <a:avLst/>
          </a:prstGeom>
          <a:noFill/>
          <a:ln/>
        </p:spPr>
        <p:txBody>
          <a:bodyPr wrap="square" rtlCol="0" anchor="ctr"/>
          <a:lstStyle/>
          <a:p>
            <a:pPr marL="0" indent="0" algn="ctr">
              <a:buNone/>
            </a:pPr>
            <a:r>
              <a:rPr lang="en-US" sz="1600" dirty="0">
                <a:solidFill>
                  <a:srgbClr val="475569"/>
                </a:solidFill>
              </a:rPr>
              <a:t>→</a:t>
            </a:r>
            <a:endParaRPr lang="en-US" sz="1600" dirty="0"/>
          </a:p>
        </p:txBody>
      </p:sp>
      <p:sp>
        <p:nvSpPr>
          <p:cNvPr id="12" name="Shape 10"/>
          <p:cNvSpPr/>
          <p:nvPr/>
        </p:nvSpPr>
        <p:spPr>
          <a:xfrm>
            <a:off x="3218688" y="960120"/>
            <a:ext cx="2788920" cy="1920240"/>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13" name="Shape 11"/>
          <p:cNvSpPr/>
          <p:nvPr/>
        </p:nvSpPr>
        <p:spPr>
          <a:xfrm>
            <a:off x="3218688" y="960120"/>
            <a:ext cx="2788920" cy="54864"/>
          </a:xfrm>
          <a:prstGeom prst="rect">
            <a:avLst/>
          </a:prstGeom>
          <a:solidFill>
            <a:srgbClr val="10B981"/>
          </a:solidFill>
          <a:ln w="12700">
            <a:solidFill>
              <a:srgbClr val="333333"/>
            </a:solidFill>
            <a:prstDash val="solid"/>
          </a:ln>
        </p:spPr>
      </p:sp>
      <p:sp>
        <p:nvSpPr>
          <p:cNvPr id="14" name="Text 12"/>
          <p:cNvSpPr/>
          <p:nvPr/>
        </p:nvSpPr>
        <p:spPr>
          <a:xfrm>
            <a:off x="3328416" y="1051560"/>
            <a:ext cx="457200" cy="347472"/>
          </a:xfrm>
          <a:prstGeom prst="rect">
            <a:avLst/>
          </a:prstGeom>
          <a:noFill/>
          <a:ln/>
        </p:spPr>
        <p:txBody>
          <a:bodyPr wrap="square"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3785616" y="1078992"/>
            <a:ext cx="2084832" cy="292608"/>
          </a:xfrm>
          <a:prstGeom prst="rect">
            <a:avLst/>
          </a:prstGeom>
          <a:noFill/>
          <a:ln/>
        </p:spPr>
        <p:txBody>
          <a:bodyPr wrap="square" rtlCol="0" anchor="ctr"/>
          <a:lstStyle/>
          <a:p>
            <a:pPr marL="0" indent="0">
              <a:buNone/>
            </a:pPr>
            <a:r>
              <a:rPr lang="en-US" sz="1200" b="1" dirty="0">
                <a:solidFill>
                  <a:srgbClr val="FFFFFF"/>
                </a:solidFill>
              </a:rPr>
              <a:t>Distil Sequences</a:t>
            </a:r>
            <a:endParaRPr lang="en-US" sz="1200" dirty="0"/>
          </a:p>
        </p:txBody>
      </p:sp>
      <p:sp>
        <p:nvSpPr>
          <p:cNvPr id="16" name="Text 14"/>
          <p:cNvSpPr/>
          <p:nvPr/>
        </p:nvSpPr>
        <p:spPr>
          <a:xfrm>
            <a:off x="3328416" y="1463040"/>
            <a:ext cx="2560320" cy="1261872"/>
          </a:xfrm>
          <a:prstGeom prst="rect">
            <a:avLst/>
          </a:prstGeom>
          <a:noFill/>
          <a:ln/>
        </p:spPr>
        <p:txBody>
          <a:bodyPr wrap="square" rtlCol="0" anchor="ctr"/>
          <a:lstStyle/>
          <a:p>
            <a:pPr marL="0" indent="0">
              <a:buNone/>
            </a:pPr>
            <a:r>
              <a:rPr lang="en-US" sz="950" dirty="0">
                <a:solidFill>
                  <a:srgbClr val="94A3B8"/>
                </a:solidFill>
              </a:rPr>
              <a:t>Sort by patient + date. Drop consecutive identical refills. Compress 5.2M bulk records → 3.8M true clinical transitions: Drug A → new Drug B.</a:t>
            </a:r>
            <a:endParaRPr lang="en-US" sz="950" dirty="0"/>
          </a:p>
        </p:txBody>
      </p:sp>
      <p:sp>
        <p:nvSpPr>
          <p:cNvPr id="17" name="Text 15"/>
          <p:cNvSpPr/>
          <p:nvPr/>
        </p:nvSpPr>
        <p:spPr>
          <a:xfrm>
            <a:off x="6025896" y="1691640"/>
            <a:ext cx="128016" cy="292608"/>
          </a:xfrm>
          <a:prstGeom prst="rect">
            <a:avLst/>
          </a:prstGeom>
          <a:noFill/>
          <a:ln/>
        </p:spPr>
        <p:txBody>
          <a:bodyPr wrap="square" rtlCol="0" anchor="ctr"/>
          <a:lstStyle/>
          <a:p>
            <a:pPr marL="0" indent="0" algn="ctr">
              <a:buNone/>
            </a:pPr>
            <a:r>
              <a:rPr lang="en-US" sz="1600" dirty="0">
                <a:solidFill>
                  <a:srgbClr val="475569"/>
                </a:solidFill>
              </a:rPr>
              <a:t>→</a:t>
            </a:r>
            <a:endParaRPr lang="en-US" sz="1600" dirty="0"/>
          </a:p>
        </p:txBody>
      </p:sp>
      <p:sp>
        <p:nvSpPr>
          <p:cNvPr id="18" name="Shape 16"/>
          <p:cNvSpPr/>
          <p:nvPr/>
        </p:nvSpPr>
        <p:spPr>
          <a:xfrm>
            <a:off x="6163056" y="960120"/>
            <a:ext cx="2788920" cy="1920240"/>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19" name="Shape 17"/>
          <p:cNvSpPr/>
          <p:nvPr/>
        </p:nvSpPr>
        <p:spPr>
          <a:xfrm>
            <a:off x="6163056" y="960120"/>
            <a:ext cx="2788920" cy="54864"/>
          </a:xfrm>
          <a:prstGeom prst="rect">
            <a:avLst/>
          </a:prstGeom>
          <a:solidFill>
            <a:srgbClr val="F59E0B"/>
          </a:solidFill>
          <a:ln w="12700">
            <a:solidFill>
              <a:srgbClr val="333333"/>
            </a:solidFill>
            <a:prstDash val="solid"/>
          </a:ln>
        </p:spPr>
      </p:sp>
      <p:sp>
        <p:nvSpPr>
          <p:cNvPr id="20" name="Text 18"/>
          <p:cNvSpPr/>
          <p:nvPr/>
        </p:nvSpPr>
        <p:spPr>
          <a:xfrm>
            <a:off x="6272784" y="1051560"/>
            <a:ext cx="457200" cy="347472"/>
          </a:xfrm>
          <a:prstGeom prst="rect">
            <a:avLst/>
          </a:prstGeom>
          <a:noFill/>
          <a:ln/>
        </p:spPr>
        <p:txBody>
          <a:bodyPr wrap="square" rtlCol="0" anchor="ctr"/>
          <a:lstStyle/>
          <a:p>
            <a:pPr marL="0" indent="0">
              <a:buNone/>
            </a:pPr>
            <a:r>
              <a:rPr lang="en-US" sz="2200" b="1" dirty="0">
                <a:solidFill>
                  <a:srgbClr val="F59E0B"/>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6729984" y="1078992"/>
            <a:ext cx="2084832" cy="292608"/>
          </a:xfrm>
          <a:prstGeom prst="rect">
            <a:avLst/>
          </a:prstGeom>
          <a:noFill/>
          <a:ln/>
        </p:spPr>
        <p:txBody>
          <a:bodyPr wrap="square" rtlCol="0" anchor="ctr"/>
          <a:lstStyle/>
          <a:p>
            <a:pPr marL="0" indent="0">
              <a:buNone/>
            </a:pPr>
            <a:r>
              <a:rPr lang="en-US" sz="1200" b="1" dirty="0">
                <a:solidFill>
                  <a:srgbClr val="FFFFFF"/>
                </a:solidFill>
              </a:rPr>
              <a:t>Build Markov Matrices</a:t>
            </a:r>
            <a:endParaRPr lang="en-US" sz="1200" dirty="0"/>
          </a:p>
        </p:txBody>
      </p:sp>
      <p:sp>
        <p:nvSpPr>
          <p:cNvPr id="22" name="Text 20"/>
          <p:cNvSpPr/>
          <p:nvPr/>
        </p:nvSpPr>
        <p:spPr>
          <a:xfrm>
            <a:off x="6272784" y="1463040"/>
            <a:ext cx="2560320" cy="1261872"/>
          </a:xfrm>
          <a:prstGeom prst="rect">
            <a:avLst/>
          </a:prstGeom>
          <a:noFill/>
          <a:ln/>
        </p:spPr>
        <p:txBody>
          <a:bodyPr wrap="square" rtlCol="0" anchor="ctr"/>
          <a:lstStyle/>
          <a:p>
            <a:pPr marL="0" indent="0">
              <a:buNone/>
            </a:pPr>
            <a:r>
              <a:rPr lang="en-US" sz="950" dirty="0">
                <a:solidFill>
                  <a:srgbClr val="94A3B8"/>
                </a:solidFill>
              </a:rPr>
              <a:t>Global graph: 260,000 unique drug states. Plus isolated sub-graphs per condition (e.g. diabetes-only). Normalised into ranked top-10 transition probabilities.</a:t>
            </a:r>
            <a:endParaRPr lang="en-US" sz="950" dirty="0"/>
          </a:p>
        </p:txBody>
      </p:sp>
      <p:sp>
        <p:nvSpPr>
          <p:cNvPr id="23" name="Text 21"/>
          <p:cNvSpPr/>
          <p:nvPr/>
        </p:nvSpPr>
        <p:spPr>
          <a:xfrm>
            <a:off x="274320" y="2999232"/>
            <a:ext cx="8595360" cy="292608"/>
          </a:xfrm>
          <a:prstGeom prst="rect">
            <a:avLst/>
          </a:prstGeom>
          <a:noFill/>
          <a:ln/>
        </p:spPr>
        <p:txBody>
          <a:bodyPr wrap="square" rtlCol="0" anchor="ctr"/>
          <a:lstStyle/>
          <a:p>
            <a:pPr marL="0" indent="0">
              <a:buNone/>
            </a:pPr>
            <a:r>
              <a:rPr lang="en-US" sz="1100" b="1" kern="0" spc="100" dirty="0">
                <a:solidFill>
                  <a:srgbClr val="0EA5E9"/>
                </a:solidFill>
              </a:rPr>
              <a:t>THE WOW FACTOR: Context-Aware Switching</a:t>
            </a:r>
            <a:endParaRPr lang="en-US" sz="1100" dirty="0"/>
          </a:p>
        </p:txBody>
      </p:sp>
      <p:sp>
        <p:nvSpPr>
          <p:cNvPr id="24" name="Shape 22"/>
          <p:cNvSpPr/>
          <p:nvPr/>
        </p:nvSpPr>
        <p:spPr>
          <a:xfrm>
            <a:off x="274320" y="3337560"/>
            <a:ext cx="4160520" cy="1572768"/>
          </a:xfrm>
          <a:prstGeom prst="rect">
            <a:avLst/>
          </a:prstGeom>
          <a:solidFill>
            <a:srgbClr val="162032"/>
          </a:solidFill>
          <a:ln w="12700">
            <a:solidFill>
              <a:srgbClr val="1E3A5F"/>
            </a:solidFill>
            <a:prstDash val="solid"/>
          </a:ln>
          <a:effectLst>
            <a:outerShdw blurRad="127000" dist="50800" dir="8100000" algn="bl" rotWithShape="0">
              <a:srgbClr val="000000">
                <a:alpha val="25000"/>
              </a:srgbClr>
            </a:outerShdw>
          </a:effectLst>
        </p:spPr>
      </p:sp>
      <p:sp>
        <p:nvSpPr>
          <p:cNvPr id="25" name="Text 23"/>
          <p:cNvSpPr/>
          <p:nvPr/>
        </p:nvSpPr>
        <p:spPr>
          <a:xfrm>
            <a:off x="411480" y="3410712"/>
            <a:ext cx="3840480" cy="256032"/>
          </a:xfrm>
          <a:prstGeom prst="rect">
            <a:avLst/>
          </a:prstGeom>
          <a:noFill/>
          <a:ln/>
        </p:spPr>
        <p:txBody>
          <a:bodyPr wrap="square" rtlCol="0" anchor="ctr"/>
          <a:lstStyle/>
          <a:p>
            <a:pPr marL="0" indent="0">
              <a:buNone/>
            </a:pPr>
            <a:r>
              <a:rPr lang="en-US" sz="1100" b="1" dirty="0">
                <a:solidFill>
                  <a:srgbClr val="94A3B8"/>
                </a:solidFill>
              </a:rPr>
              <a:t>Global prediction</a:t>
            </a:r>
            <a:endParaRPr lang="en-US" sz="1100" dirty="0"/>
          </a:p>
        </p:txBody>
      </p:sp>
      <p:sp>
        <p:nvSpPr>
          <p:cNvPr id="26" name="Text 24"/>
          <p:cNvSpPr/>
          <p:nvPr/>
        </p:nvSpPr>
        <p:spPr>
          <a:xfrm>
            <a:off x="411480" y="3675888"/>
            <a:ext cx="3657600" cy="219456"/>
          </a:xfrm>
          <a:prstGeom prst="rect">
            <a:avLst/>
          </a:prstGeom>
          <a:noFill/>
          <a:ln/>
        </p:spPr>
        <p:txBody>
          <a:bodyPr wrap="square" rtlCol="0" anchor="ctr"/>
          <a:lstStyle/>
          <a:p>
            <a:pPr marL="0" indent="0">
              <a:buNone/>
            </a:pPr>
            <a:r>
              <a:rPr lang="en-US" sz="1000" dirty="0">
                <a:solidFill>
                  <a:srgbClr val="94A3B8"/>
                </a:solidFill>
              </a:rPr>
              <a:t>Patient on Lovastatin (statin)</a:t>
            </a:r>
            <a:endParaRPr lang="en-US" sz="1000" dirty="0"/>
          </a:p>
        </p:txBody>
      </p:sp>
      <p:sp>
        <p:nvSpPr>
          <p:cNvPr id="27" name="Shape 25"/>
          <p:cNvSpPr/>
          <p:nvPr/>
        </p:nvSpPr>
        <p:spPr>
          <a:xfrm>
            <a:off x="411480" y="3931920"/>
            <a:ext cx="3840480" cy="384048"/>
          </a:xfrm>
          <a:prstGeom prst="rect">
            <a:avLst/>
          </a:prstGeom>
          <a:solidFill>
            <a:srgbClr val="1A2744"/>
          </a:solidFill>
          <a:ln w="12700">
            <a:solidFill>
              <a:srgbClr val="333333"/>
            </a:solidFill>
            <a:prstDash val="solid"/>
          </a:ln>
        </p:spPr>
      </p:sp>
      <p:sp>
        <p:nvSpPr>
          <p:cNvPr id="28" name="Text 26"/>
          <p:cNvSpPr/>
          <p:nvPr/>
        </p:nvSpPr>
        <p:spPr>
          <a:xfrm>
            <a:off x="457200" y="3950208"/>
            <a:ext cx="3749040" cy="347472"/>
          </a:xfrm>
          <a:prstGeom prst="rect">
            <a:avLst/>
          </a:prstGeom>
          <a:noFill/>
          <a:ln/>
        </p:spPr>
        <p:txBody>
          <a:bodyPr wrap="square" rtlCol="0" anchor="ctr"/>
          <a:lstStyle/>
          <a:p>
            <a:pPr marL="0" indent="0">
              <a:buNone/>
            </a:pPr>
            <a:r>
              <a:rPr lang="en-US" sz="1000" dirty="0">
                <a:solidFill>
                  <a:srgbClr val="FFFFFF"/>
                </a:solidFill>
              </a:rPr>
              <a:t>Next predicted: generic antihypertensive</a:t>
            </a:r>
            <a:endParaRPr lang="en-US" sz="1000" dirty="0"/>
          </a:p>
        </p:txBody>
      </p:sp>
      <p:sp>
        <p:nvSpPr>
          <p:cNvPr id="29" name="Shape 27"/>
          <p:cNvSpPr/>
          <p:nvPr/>
        </p:nvSpPr>
        <p:spPr>
          <a:xfrm>
            <a:off x="411480" y="4434840"/>
            <a:ext cx="1005840" cy="256032"/>
          </a:xfrm>
          <a:prstGeom prst="rect">
            <a:avLst/>
          </a:prstGeom>
          <a:solidFill>
            <a:srgbClr val="475569"/>
          </a:solidFill>
          <a:ln w="12700">
            <a:solidFill>
              <a:srgbClr val="333333"/>
            </a:solidFill>
            <a:prstDash val="solid"/>
          </a:ln>
        </p:spPr>
      </p:sp>
      <p:sp>
        <p:nvSpPr>
          <p:cNvPr id="30" name="Text 28"/>
          <p:cNvSpPr/>
          <p:nvPr/>
        </p:nvSpPr>
        <p:spPr>
          <a:xfrm>
            <a:off x="411480" y="4434840"/>
            <a:ext cx="1005840" cy="256032"/>
          </a:xfrm>
          <a:prstGeom prst="rect">
            <a:avLst/>
          </a:prstGeom>
          <a:noFill/>
          <a:ln/>
        </p:spPr>
        <p:txBody>
          <a:bodyPr wrap="square" lIns="0" tIns="0" rIns="0" bIns="0" rtlCol="0" anchor="ctr"/>
          <a:lstStyle/>
          <a:p>
            <a:pPr marL="0" indent="0" algn="ctr">
              <a:buNone/>
            </a:pPr>
            <a:r>
              <a:rPr lang="en-US" sz="900" b="1" dirty="0">
                <a:solidFill>
                  <a:srgbClr val="94A3B8"/>
                </a:solidFill>
              </a:rPr>
              <a:t>GENERIC</a:t>
            </a:r>
            <a:endParaRPr lang="en-US" sz="900" dirty="0"/>
          </a:p>
        </p:txBody>
      </p:sp>
      <p:sp>
        <p:nvSpPr>
          <p:cNvPr id="31" name="Text 29"/>
          <p:cNvSpPr/>
          <p:nvPr/>
        </p:nvSpPr>
        <p:spPr>
          <a:xfrm>
            <a:off x="4480560" y="3749040"/>
            <a:ext cx="960120" cy="530352"/>
          </a:xfrm>
          <a:prstGeom prst="rect">
            <a:avLst/>
          </a:prstGeom>
          <a:noFill/>
          <a:ln/>
        </p:spPr>
        <p:txBody>
          <a:bodyPr wrap="square" rtlCol="0" anchor="ctr"/>
          <a:lstStyle/>
          <a:p>
            <a:pPr marL="0" indent="0" algn="ctr">
              <a:buNone/>
            </a:pPr>
            <a:r>
              <a:rPr lang="en-US" sz="900" b="1" dirty="0">
                <a:solidFill>
                  <a:srgbClr val="0EA5E9"/>
                </a:solidFill>
              </a:rPr>
              <a:t>+ Diabetes</a:t>
            </a:r>
            <a:endParaRPr lang="en-US" sz="900" dirty="0"/>
          </a:p>
          <a:p>
            <a:pPr marL="0" indent="0" algn="ctr">
              <a:buNone/>
            </a:pPr>
            <a:r>
              <a:rPr lang="en-US" sz="900" b="1" dirty="0">
                <a:solidFill>
                  <a:srgbClr val="0EA5E9"/>
                </a:solidFill>
              </a:rPr>
              <a:t>context</a:t>
            </a:r>
            <a:endParaRPr lang="en-US" sz="900" dirty="0"/>
          </a:p>
        </p:txBody>
      </p:sp>
      <p:sp>
        <p:nvSpPr>
          <p:cNvPr id="32" name="Shape 30"/>
          <p:cNvSpPr/>
          <p:nvPr/>
        </p:nvSpPr>
        <p:spPr>
          <a:xfrm>
            <a:off x="4462272" y="4315968"/>
            <a:ext cx="896112" cy="0"/>
          </a:xfrm>
          <a:prstGeom prst="line">
            <a:avLst/>
          </a:prstGeom>
          <a:noFill/>
          <a:ln w="19050">
            <a:solidFill>
              <a:srgbClr val="0EA5E9"/>
            </a:solidFill>
            <a:prstDash val="solid"/>
            <a:tailEnd type="arrow"/>
          </a:ln>
        </p:spPr>
      </p:sp>
      <p:sp>
        <p:nvSpPr>
          <p:cNvPr id="33" name="Shape 31"/>
          <p:cNvSpPr/>
          <p:nvPr/>
        </p:nvSpPr>
        <p:spPr>
          <a:xfrm>
            <a:off x="5532120" y="3337560"/>
            <a:ext cx="3337560" cy="1572768"/>
          </a:xfrm>
          <a:prstGeom prst="rect">
            <a:avLst/>
          </a:prstGeom>
          <a:solidFill>
            <a:srgbClr val="1E3A5F"/>
          </a:solidFill>
          <a:ln w="12700">
            <a:solidFill>
              <a:srgbClr val="1E3A5F"/>
            </a:solidFill>
            <a:prstDash val="solid"/>
          </a:ln>
          <a:effectLst>
            <a:outerShdw blurRad="127000" dist="50800" dir="8100000" algn="bl" rotWithShape="0">
              <a:srgbClr val="000000">
                <a:alpha val="25000"/>
              </a:srgbClr>
            </a:outerShdw>
          </a:effectLst>
        </p:spPr>
      </p:sp>
      <p:sp>
        <p:nvSpPr>
          <p:cNvPr id="34" name="Shape 32"/>
          <p:cNvSpPr/>
          <p:nvPr/>
        </p:nvSpPr>
        <p:spPr>
          <a:xfrm>
            <a:off x="5532120" y="3337560"/>
            <a:ext cx="3337560" cy="54864"/>
          </a:xfrm>
          <a:prstGeom prst="rect">
            <a:avLst/>
          </a:prstGeom>
          <a:solidFill>
            <a:srgbClr val="0EA5E9"/>
          </a:solidFill>
          <a:ln w="12700">
            <a:solidFill>
              <a:srgbClr val="333333"/>
            </a:solidFill>
            <a:prstDash val="solid"/>
          </a:ln>
        </p:spPr>
      </p:sp>
      <p:sp>
        <p:nvSpPr>
          <p:cNvPr id="35" name="Text 33"/>
          <p:cNvSpPr/>
          <p:nvPr/>
        </p:nvSpPr>
        <p:spPr>
          <a:xfrm>
            <a:off x="5669280" y="3410712"/>
            <a:ext cx="3017520" cy="256032"/>
          </a:xfrm>
          <a:prstGeom prst="rect">
            <a:avLst/>
          </a:prstGeom>
          <a:noFill/>
          <a:ln/>
        </p:spPr>
        <p:txBody>
          <a:bodyPr wrap="square" rtlCol="0" anchor="ctr"/>
          <a:lstStyle/>
          <a:p>
            <a:pPr marL="0" indent="0">
              <a:buNone/>
            </a:pPr>
            <a:r>
              <a:rPr lang="en-US" sz="1100" b="1" dirty="0">
                <a:solidFill>
                  <a:srgbClr val="0EA5E9"/>
                </a:solidFill>
              </a:rPr>
              <a:t>With diabetes context</a:t>
            </a:r>
            <a:endParaRPr lang="en-US" sz="1100" dirty="0"/>
          </a:p>
        </p:txBody>
      </p:sp>
      <p:sp>
        <p:nvSpPr>
          <p:cNvPr id="36" name="Text 34"/>
          <p:cNvSpPr/>
          <p:nvPr/>
        </p:nvSpPr>
        <p:spPr>
          <a:xfrm>
            <a:off x="5669280" y="3675888"/>
            <a:ext cx="2926080" cy="219456"/>
          </a:xfrm>
          <a:prstGeom prst="rect">
            <a:avLst/>
          </a:prstGeom>
          <a:noFill/>
          <a:ln/>
        </p:spPr>
        <p:txBody>
          <a:bodyPr wrap="square" rtlCol="0" anchor="ctr"/>
          <a:lstStyle/>
          <a:p>
            <a:pPr marL="0" indent="0">
              <a:buNone/>
            </a:pPr>
            <a:r>
              <a:rPr lang="en-US" sz="1000" dirty="0">
                <a:solidFill>
                  <a:srgbClr val="94A3B8"/>
                </a:solidFill>
              </a:rPr>
              <a:t>Same patient · same current drug</a:t>
            </a:r>
            <a:endParaRPr lang="en-US" sz="1000" dirty="0"/>
          </a:p>
        </p:txBody>
      </p:sp>
      <p:sp>
        <p:nvSpPr>
          <p:cNvPr id="37" name="Shape 35"/>
          <p:cNvSpPr/>
          <p:nvPr/>
        </p:nvSpPr>
        <p:spPr>
          <a:xfrm>
            <a:off x="5669280" y="3931920"/>
            <a:ext cx="3017520" cy="384048"/>
          </a:xfrm>
          <a:prstGeom prst="rect">
            <a:avLst/>
          </a:prstGeom>
          <a:solidFill>
            <a:srgbClr val="1A2744"/>
          </a:solidFill>
          <a:ln w="12700">
            <a:solidFill>
              <a:srgbClr val="333333"/>
            </a:solidFill>
            <a:prstDash val="solid"/>
          </a:ln>
        </p:spPr>
      </p:sp>
      <p:sp>
        <p:nvSpPr>
          <p:cNvPr id="38" name="Text 36"/>
          <p:cNvSpPr/>
          <p:nvPr/>
        </p:nvSpPr>
        <p:spPr>
          <a:xfrm>
            <a:off x="5715000" y="3950208"/>
            <a:ext cx="2926080" cy="347472"/>
          </a:xfrm>
          <a:prstGeom prst="rect">
            <a:avLst/>
          </a:prstGeom>
          <a:noFill/>
          <a:ln/>
        </p:spPr>
        <p:txBody>
          <a:bodyPr wrap="square" rtlCol="0" anchor="ctr"/>
          <a:lstStyle/>
          <a:p>
            <a:pPr marL="0" indent="0">
              <a:buNone/>
            </a:pPr>
            <a:r>
              <a:rPr lang="en-US" sz="1050" b="1" dirty="0">
                <a:solidFill>
                  <a:srgbClr val="10B981"/>
                </a:solidFill>
              </a:rPr>
              <a:t>Next predicted: Pregabalin (Lyrica)</a:t>
            </a:r>
            <a:endParaRPr lang="en-US" sz="1050" dirty="0"/>
          </a:p>
        </p:txBody>
      </p:sp>
      <p:sp>
        <p:nvSpPr>
          <p:cNvPr id="39" name="Shape 37"/>
          <p:cNvSpPr/>
          <p:nvPr/>
        </p:nvSpPr>
        <p:spPr>
          <a:xfrm>
            <a:off x="5669280" y="4434840"/>
            <a:ext cx="1645920" cy="256032"/>
          </a:xfrm>
          <a:prstGeom prst="rect">
            <a:avLst/>
          </a:prstGeom>
          <a:solidFill>
            <a:srgbClr val="0EA5E9"/>
          </a:solidFill>
          <a:ln w="12700">
            <a:solidFill>
              <a:srgbClr val="333333"/>
            </a:solidFill>
            <a:prstDash val="solid"/>
          </a:ln>
        </p:spPr>
      </p:sp>
      <p:sp>
        <p:nvSpPr>
          <p:cNvPr id="40" name="Text 38"/>
          <p:cNvSpPr/>
          <p:nvPr/>
        </p:nvSpPr>
        <p:spPr>
          <a:xfrm>
            <a:off x="5669280" y="4434840"/>
            <a:ext cx="1645920" cy="256032"/>
          </a:xfrm>
          <a:prstGeom prst="rect">
            <a:avLst/>
          </a:prstGeom>
          <a:noFill/>
          <a:ln/>
        </p:spPr>
        <p:txBody>
          <a:bodyPr wrap="square" lIns="0" tIns="0" rIns="0" bIns="0" rtlCol="0" anchor="ctr"/>
          <a:lstStyle/>
          <a:p>
            <a:pPr marL="0" indent="0" algn="ctr">
              <a:buNone/>
            </a:pPr>
            <a:r>
              <a:rPr lang="en-US" sz="900" b="1" dirty="0">
                <a:solidFill>
                  <a:srgbClr val="0D0D1A"/>
                </a:solidFill>
              </a:rPr>
              <a:t>NEUROPATHY PATHWAY</a:t>
            </a:r>
            <a:endParaRPr lang="en-US" sz="900" dirty="0"/>
          </a:p>
        </p:txBody>
      </p:sp>
      <p:sp>
        <p:nvSpPr>
          <p:cNvPr id="41" name="Text 39"/>
          <p:cNvSpPr/>
          <p:nvPr/>
        </p:nvSpPr>
        <p:spPr>
          <a:xfrm>
            <a:off x="5669280" y="4736592"/>
            <a:ext cx="3017520" cy="201168"/>
          </a:xfrm>
          <a:prstGeom prst="rect">
            <a:avLst/>
          </a:prstGeom>
          <a:noFill/>
          <a:ln/>
        </p:spPr>
        <p:txBody>
          <a:bodyPr wrap="square" rtlCol="0" anchor="ctr"/>
          <a:lstStyle/>
          <a:p>
            <a:pPr marL="0" indent="0">
              <a:buNone/>
            </a:pPr>
            <a:r>
              <a:rPr lang="en-US" sz="850" i="1" dirty="0">
                <a:solidFill>
                  <a:srgbClr val="94A3B8"/>
                </a:solidFill>
              </a:rPr>
              <a:t>Diabetics on statins → neuropathy risk</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a:extLst>
            <a:ext uri="{FF2B5EF4-FFF2-40B4-BE49-F238E27FC236}">
              <a16:creationId xmlns:a16="http://schemas.microsoft.com/office/drawing/2014/main" id="{63871630-F17C-5958-10C1-2538DC27589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A927AF2-6617-B943-887D-E18BB823926B}"/>
              </a:ext>
            </a:extLst>
          </p:cNvPr>
          <p:cNvSpPr/>
          <p:nvPr/>
        </p:nvSpPr>
        <p:spPr>
          <a:xfrm>
            <a:off x="0" y="0"/>
            <a:ext cx="9144000" cy="822960"/>
          </a:xfrm>
          <a:prstGeom prst="rect">
            <a:avLst/>
          </a:prstGeom>
          <a:solidFill>
            <a:srgbClr val="1A2744"/>
          </a:solidFill>
          <a:ln w="12700">
            <a:solidFill>
              <a:srgbClr val="333333"/>
            </a:solidFill>
            <a:prstDash val="solid"/>
          </a:ln>
        </p:spPr>
      </p:sp>
      <p:sp>
        <p:nvSpPr>
          <p:cNvPr id="3" name="Text 1">
            <a:extLst>
              <a:ext uri="{FF2B5EF4-FFF2-40B4-BE49-F238E27FC236}">
                <a16:creationId xmlns:a16="http://schemas.microsoft.com/office/drawing/2014/main" id="{443C8DFC-1A7C-31C6-0F82-03A961ADC1E4}"/>
              </a:ext>
            </a:extLst>
          </p:cNvPr>
          <p:cNvSpPr/>
          <p:nvPr/>
        </p:nvSpPr>
        <p:spPr>
          <a:xfrm>
            <a:off x="457200" y="0"/>
            <a:ext cx="6858000" cy="822960"/>
          </a:xfrm>
          <a:prstGeom prst="rect">
            <a:avLst/>
          </a:prstGeom>
          <a:noFill/>
          <a:ln/>
        </p:spPr>
        <p:txBody>
          <a:bodyPr wrap="square" rtlCol="0" anchor="ctr"/>
          <a:lstStyle/>
          <a:p>
            <a:pPr marL="0" indent="0">
              <a:buNone/>
            </a:pPr>
            <a:r>
              <a:rPr lang="en-US" sz="2200" b="1" dirty="0">
                <a:solidFill>
                  <a:srgbClr val="FFFFFF"/>
                </a:solidFill>
              </a:rPr>
              <a:t>Results &amp; Honest Evaluation</a:t>
            </a:r>
            <a:endParaRPr lang="en-US" sz="2200" dirty="0"/>
          </a:p>
        </p:txBody>
      </p:sp>
      <p:sp>
        <p:nvSpPr>
          <p:cNvPr id="4" name="Shape 2">
            <a:extLst>
              <a:ext uri="{FF2B5EF4-FFF2-40B4-BE49-F238E27FC236}">
                <a16:creationId xmlns:a16="http://schemas.microsoft.com/office/drawing/2014/main" id="{C799460E-B4C1-8D97-BCEF-2D06D4335CC6}"/>
              </a:ext>
            </a:extLst>
          </p:cNvPr>
          <p:cNvSpPr/>
          <p:nvPr/>
        </p:nvSpPr>
        <p:spPr>
          <a:xfrm>
            <a:off x="7040880" y="228600"/>
            <a:ext cx="1828800" cy="347472"/>
          </a:xfrm>
          <a:prstGeom prst="rect">
            <a:avLst/>
          </a:prstGeom>
          <a:solidFill>
            <a:srgbClr val="F59E0B"/>
          </a:solidFill>
          <a:ln w="12700">
            <a:solidFill>
              <a:srgbClr val="333333"/>
            </a:solidFill>
            <a:prstDash val="solid"/>
          </a:ln>
        </p:spPr>
      </p:sp>
      <p:sp>
        <p:nvSpPr>
          <p:cNvPr id="5" name="Text 3">
            <a:extLst>
              <a:ext uri="{FF2B5EF4-FFF2-40B4-BE49-F238E27FC236}">
                <a16:creationId xmlns:a16="http://schemas.microsoft.com/office/drawing/2014/main" id="{A1D01961-ACFA-2EC9-F904-83CCD861C601}"/>
              </a:ext>
            </a:extLst>
          </p:cNvPr>
          <p:cNvSpPr/>
          <p:nvPr/>
        </p:nvSpPr>
        <p:spPr>
          <a:xfrm>
            <a:off x="7040880" y="228600"/>
            <a:ext cx="1828800" cy="347472"/>
          </a:xfrm>
          <a:prstGeom prst="rect">
            <a:avLst/>
          </a:prstGeom>
          <a:noFill/>
          <a:ln/>
        </p:spPr>
        <p:txBody>
          <a:bodyPr wrap="square" lIns="0" tIns="0" rIns="0" bIns="0" rtlCol="0" anchor="ctr"/>
          <a:lstStyle/>
          <a:p>
            <a:pPr marL="0" indent="0" algn="ctr">
              <a:buNone/>
            </a:pPr>
            <a:r>
              <a:rPr lang="en-US" sz="900" b="1" dirty="0">
                <a:solidFill>
                  <a:srgbClr val="0D0D1A"/>
                </a:solidFill>
              </a:rPr>
              <a:t>EVALUATION</a:t>
            </a:r>
            <a:endParaRPr lang="en-US" sz="900" dirty="0"/>
          </a:p>
        </p:txBody>
      </p:sp>
      <p:sp>
        <p:nvSpPr>
          <p:cNvPr id="6" name="Shape 4">
            <a:extLst>
              <a:ext uri="{FF2B5EF4-FFF2-40B4-BE49-F238E27FC236}">
                <a16:creationId xmlns:a16="http://schemas.microsoft.com/office/drawing/2014/main" id="{7A7692BE-B8C0-0C91-1151-58EA0BBFDAB7}"/>
              </a:ext>
            </a:extLst>
          </p:cNvPr>
          <p:cNvSpPr/>
          <p:nvPr/>
        </p:nvSpPr>
        <p:spPr>
          <a:xfrm>
            <a:off x="274320" y="960120"/>
            <a:ext cx="4023360" cy="3375660"/>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7" name="Shape 5">
            <a:extLst>
              <a:ext uri="{FF2B5EF4-FFF2-40B4-BE49-F238E27FC236}">
                <a16:creationId xmlns:a16="http://schemas.microsoft.com/office/drawing/2014/main" id="{29844F48-C25F-04D7-0AEF-D7B5C0512E90}"/>
              </a:ext>
            </a:extLst>
          </p:cNvPr>
          <p:cNvSpPr/>
          <p:nvPr/>
        </p:nvSpPr>
        <p:spPr>
          <a:xfrm>
            <a:off x="274320" y="960120"/>
            <a:ext cx="64008" cy="3375660"/>
          </a:xfrm>
          <a:prstGeom prst="rect">
            <a:avLst/>
          </a:prstGeom>
          <a:solidFill>
            <a:srgbClr val="F59E0B"/>
          </a:solidFill>
          <a:ln w="12700">
            <a:solidFill>
              <a:srgbClr val="333333"/>
            </a:solidFill>
            <a:prstDash val="solid"/>
          </a:ln>
        </p:spPr>
      </p:sp>
      <p:sp>
        <p:nvSpPr>
          <p:cNvPr id="8" name="Text 6">
            <a:extLst>
              <a:ext uri="{FF2B5EF4-FFF2-40B4-BE49-F238E27FC236}">
                <a16:creationId xmlns:a16="http://schemas.microsoft.com/office/drawing/2014/main" id="{0BB15085-CE48-1849-869C-570429603C37}"/>
              </a:ext>
            </a:extLst>
          </p:cNvPr>
          <p:cNvSpPr/>
          <p:nvPr/>
        </p:nvSpPr>
        <p:spPr>
          <a:xfrm>
            <a:off x="457200" y="1051560"/>
            <a:ext cx="3657600" cy="292608"/>
          </a:xfrm>
          <a:prstGeom prst="rect">
            <a:avLst/>
          </a:prstGeom>
          <a:noFill/>
          <a:ln/>
        </p:spPr>
        <p:txBody>
          <a:bodyPr wrap="square" rtlCol="0" anchor="ctr"/>
          <a:lstStyle/>
          <a:p>
            <a:pPr marL="0" indent="0">
              <a:buNone/>
            </a:pPr>
            <a:r>
              <a:rPr lang="en-US" sz="1300" b="1" dirty="0">
                <a:solidFill>
                  <a:srgbClr val="F59E0B"/>
                </a:solidFill>
              </a:rPr>
              <a:t>The elephant in the room</a:t>
            </a:r>
            <a:endParaRPr lang="en-US" sz="1300" dirty="0"/>
          </a:p>
        </p:txBody>
      </p:sp>
      <p:sp>
        <p:nvSpPr>
          <p:cNvPr id="9" name="Text 7">
            <a:extLst>
              <a:ext uri="{FF2B5EF4-FFF2-40B4-BE49-F238E27FC236}">
                <a16:creationId xmlns:a16="http://schemas.microsoft.com/office/drawing/2014/main" id="{7DEA5E05-B71B-016F-68CF-9B5F87CC7182}"/>
              </a:ext>
            </a:extLst>
          </p:cNvPr>
          <p:cNvSpPr/>
          <p:nvPr/>
        </p:nvSpPr>
        <p:spPr>
          <a:xfrm>
            <a:off x="457200" y="1417320"/>
            <a:ext cx="3657600" cy="256032"/>
          </a:xfrm>
          <a:prstGeom prst="rect">
            <a:avLst/>
          </a:prstGeom>
          <a:noFill/>
          <a:ln/>
        </p:spPr>
        <p:txBody>
          <a:bodyPr wrap="square" rtlCol="0" anchor="ctr"/>
          <a:lstStyle/>
          <a:p>
            <a:pPr marL="0" indent="0">
              <a:buNone/>
            </a:pPr>
            <a:r>
              <a:rPr lang="en-US" sz="1050" dirty="0">
                <a:solidFill>
                  <a:srgbClr val="94A3B8"/>
                </a:solidFill>
              </a:rPr>
              <a:t>Temporal Recall@5 on held-out 2010 data:</a:t>
            </a:r>
            <a:endParaRPr lang="en-US" sz="1050" dirty="0"/>
          </a:p>
        </p:txBody>
      </p:sp>
      <p:sp>
        <p:nvSpPr>
          <p:cNvPr id="10" name="Text 8">
            <a:extLst>
              <a:ext uri="{FF2B5EF4-FFF2-40B4-BE49-F238E27FC236}">
                <a16:creationId xmlns:a16="http://schemas.microsoft.com/office/drawing/2014/main" id="{D69F768D-1497-C715-8511-3B5DC56D101E}"/>
              </a:ext>
            </a:extLst>
          </p:cNvPr>
          <p:cNvSpPr/>
          <p:nvPr/>
        </p:nvSpPr>
        <p:spPr>
          <a:xfrm>
            <a:off x="457200" y="1691640"/>
            <a:ext cx="2286000" cy="640080"/>
          </a:xfrm>
          <a:prstGeom prst="rect">
            <a:avLst/>
          </a:prstGeom>
          <a:noFill/>
          <a:ln/>
        </p:spPr>
        <p:txBody>
          <a:bodyPr wrap="square" rtlCol="0" anchor="ctr"/>
          <a:lstStyle/>
          <a:p>
            <a:pPr marL="0" indent="0">
              <a:buNone/>
            </a:pPr>
            <a:r>
              <a:rPr lang="en-US" sz="4800" b="1" dirty="0">
                <a:solidFill>
                  <a:srgbClr val="F43F5E"/>
                </a:solidFill>
                <a:latin typeface="Calibri" pitchFamily="34" charset="0"/>
                <a:ea typeface="Calibri" pitchFamily="34" charset="-122"/>
                <a:cs typeface="Calibri" pitchFamily="34" charset="-120"/>
              </a:rPr>
              <a:t>~0%</a:t>
            </a:r>
            <a:endParaRPr lang="en-US" sz="4800" dirty="0"/>
          </a:p>
        </p:txBody>
      </p:sp>
      <p:sp>
        <p:nvSpPr>
          <p:cNvPr id="11" name="Text 9">
            <a:extLst>
              <a:ext uri="{FF2B5EF4-FFF2-40B4-BE49-F238E27FC236}">
                <a16:creationId xmlns:a16="http://schemas.microsoft.com/office/drawing/2014/main" id="{F93B908B-08CC-F07A-A3AA-41574CE6E173}"/>
              </a:ext>
            </a:extLst>
          </p:cNvPr>
          <p:cNvSpPr/>
          <p:nvPr/>
        </p:nvSpPr>
        <p:spPr>
          <a:xfrm>
            <a:off x="457200" y="2331720"/>
            <a:ext cx="3566160" cy="256032"/>
          </a:xfrm>
          <a:prstGeom prst="rect">
            <a:avLst/>
          </a:prstGeom>
          <a:noFill/>
          <a:ln/>
        </p:spPr>
        <p:txBody>
          <a:bodyPr wrap="square" rtlCol="0" anchor="ctr"/>
          <a:lstStyle/>
          <a:p>
            <a:pPr marL="0" indent="0">
              <a:buNone/>
            </a:pPr>
            <a:r>
              <a:rPr lang="en-US" sz="1050" b="1" i="1" dirty="0">
                <a:solidFill>
                  <a:srgbClr val="F59E0B"/>
                </a:solidFill>
              </a:rPr>
              <a:t>But here's why that proves it works →</a:t>
            </a:r>
            <a:endParaRPr lang="en-US" sz="1050" dirty="0"/>
          </a:p>
        </p:txBody>
      </p:sp>
      <p:sp>
        <p:nvSpPr>
          <p:cNvPr id="12" name="Text 10">
            <a:extLst>
              <a:ext uri="{FF2B5EF4-FFF2-40B4-BE49-F238E27FC236}">
                <a16:creationId xmlns:a16="http://schemas.microsoft.com/office/drawing/2014/main" id="{784EF23B-4DFD-C3F8-92E0-F3AECF9A0B11}"/>
              </a:ext>
            </a:extLst>
          </p:cNvPr>
          <p:cNvSpPr/>
          <p:nvPr/>
        </p:nvSpPr>
        <p:spPr>
          <a:xfrm>
            <a:off x="457200" y="2651760"/>
            <a:ext cx="3566160" cy="1143000"/>
          </a:xfrm>
          <a:prstGeom prst="rect">
            <a:avLst/>
          </a:prstGeom>
          <a:noFill/>
          <a:ln/>
        </p:spPr>
        <p:txBody>
          <a:bodyPr wrap="square" rtlCol="0" anchor="ctr"/>
          <a:lstStyle/>
          <a:p>
            <a:pPr marL="0" indent="0">
              <a:buNone/>
            </a:pPr>
            <a:r>
              <a:rPr lang="en-US" sz="900" dirty="0">
                <a:solidFill>
                  <a:srgbClr val="94A3B8"/>
                </a:solidFill>
              </a:rPr>
              <a:t>The CMS DE-SynPUF documentation explicitly states that longitudinal patient IDs are scrambled across years to protect privacy. A patient with Heart Failure in 2008 has mathematically randomised prescriptions in 2010. Cross-year prediction on this data is structurally impossible — for any model.</a:t>
            </a:r>
            <a:endParaRPr lang="en-US" sz="900" dirty="0"/>
          </a:p>
        </p:txBody>
      </p:sp>
      <p:sp>
        <p:nvSpPr>
          <p:cNvPr id="13" name="Text 11">
            <a:extLst>
              <a:ext uri="{FF2B5EF4-FFF2-40B4-BE49-F238E27FC236}">
                <a16:creationId xmlns:a16="http://schemas.microsoft.com/office/drawing/2014/main" id="{629DBA0B-7C3E-3081-E652-28A90152A5EF}"/>
              </a:ext>
            </a:extLst>
          </p:cNvPr>
          <p:cNvSpPr/>
          <p:nvPr/>
        </p:nvSpPr>
        <p:spPr>
          <a:xfrm>
            <a:off x="4370832" y="2148840"/>
            <a:ext cx="365760" cy="411480"/>
          </a:xfrm>
          <a:prstGeom prst="rect">
            <a:avLst/>
          </a:prstGeom>
          <a:noFill/>
          <a:ln/>
        </p:spPr>
        <p:txBody>
          <a:bodyPr wrap="square" rtlCol="0" anchor="ctr"/>
          <a:lstStyle/>
          <a:p>
            <a:pPr marL="0" indent="0" algn="ctr">
              <a:buNone/>
            </a:pPr>
            <a:r>
              <a:rPr lang="en-US" sz="2600" b="1" dirty="0">
                <a:solidFill>
                  <a:srgbClr val="0EA5E9"/>
                </a:solidFill>
              </a:rPr>
              <a:t>→</a:t>
            </a:r>
            <a:endParaRPr lang="en-US" sz="2600" dirty="0"/>
          </a:p>
        </p:txBody>
      </p:sp>
      <p:grpSp>
        <p:nvGrpSpPr>
          <p:cNvPr id="30" name="Group 29">
            <a:extLst>
              <a:ext uri="{FF2B5EF4-FFF2-40B4-BE49-F238E27FC236}">
                <a16:creationId xmlns:a16="http://schemas.microsoft.com/office/drawing/2014/main" id="{492B4B10-C162-01AF-6024-C9B8AF98D50A}"/>
              </a:ext>
            </a:extLst>
          </p:cNvPr>
          <p:cNvGrpSpPr/>
          <p:nvPr/>
        </p:nvGrpSpPr>
        <p:grpSpPr>
          <a:xfrm>
            <a:off x="4805172" y="960120"/>
            <a:ext cx="4046220" cy="3375660"/>
            <a:chOff x="4805172" y="960120"/>
            <a:chExt cx="4046220" cy="3787140"/>
          </a:xfrm>
        </p:grpSpPr>
        <p:sp>
          <p:nvSpPr>
            <p:cNvPr id="14" name="Shape 12">
              <a:extLst>
                <a:ext uri="{FF2B5EF4-FFF2-40B4-BE49-F238E27FC236}">
                  <a16:creationId xmlns:a16="http://schemas.microsoft.com/office/drawing/2014/main" id="{7B327747-6B19-2ECA-A39F-EF8F803B6828}"/>
                </a:ext>
              </a:extLst>
            </p:cNvPr>
            <p:cNvSpPr/>
            <p:nvPr/>
          </p:nvSpPr>
          <p:spPr>
            <a:xfrm>
              <a:off x="4809744" y="960120"/>
              <a:ext cx="4041648" cy="3787140"/>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15" name="Shape 13">
              <a:extLst>
                <a:ext uri="{FF2B5EF4-FFF2-40B4-BE49-F238E27FC236}">
                  <a16:creationId xmlns:a16="http://schemas.microsoft.com/office/drawing/2014/main" id="{F11CBDAA-1575-3371-0401-074080139C2D}"/>
                </a:ext>
              </a:extLst>
            </p:cNvPr>
            <p:cNvSpPr/>
            <p:nvPr/>
          </p:nvSpPr>
          <p:spPr>
            <a:xfrm>
              <a:off x="4805172" y="960120"/>
              <a:ext cx="64008" cy="3787140"/>
            </a:xfrm>
            <a:prstGeom prst="rect">
              <a:avLst/>
            </a:prstGeom>
            <a:solidFill>
              <a:srgbClr val="0EA5E9"/>
            </a:solidFill>
            <a:ln w="12700">
              <a:solidFill>
                <a:srgbClr val="333333"/>
              </a:solidFill>
              <a:prstDash val="solid"/>
            </a:ln>
          </p:spPr>
        </p:sp>
      </p:grpSp>
      <p:sp>
        <p:nvSpPr>
          <p:cNvPr id="16" name="Text 14">
            <a:extLst>
              <a:ext uri="{FF2B5EF4-FFF2-40B4-BE49-F238E27FC236}">
                <a16:creationId xmlns:a16="http://schemas.microsoft.com/office/drawing/2014/main" id="{2418B7FF-0CA4-D3A4-C163-32C4C022C317}"/>
              </a:ext>
            </a:extLst>
          </p:cNvPr>
          <p:cNvSpPr/>
          <p:nvPr/>
        </p:nvSpPr>
        <p:spPr>
          <a:xfrm>
            <a:off x="5010912" y="1051560"/>
            <a:ext cx="3657600" cy="292608"/>
          </a:xfrm>
          <a:prstGeom prst="rect">
            <a:avLst/>
          </a:prstGeom>
          <a:noFill/>
          <a:ln/>
        </p:spPr>
        <p:txBody>
          <a:bodyPr wrap="square" rtlCol="0" anchor="ctr"/>
          <a:lstStyle/>
          <a:p>
            <a:pPr marL="0" indent="0">
              <a:buNone/>
            </a:pPr>
            <a:r>
              <a:rPr lang="en-US" sz="1300" b="1" dirty="0">
                <a:solidFill>
                  <a:srgbClr val="0EA5E9"/>
                </a:solidFill>
              </a:rPr>
              <a:t>What actually validates the engine</a:t>
            </a:r>
            <a:endParaRPr lang="en-US" sz="1300" dirty="0"/>
          </a:p>
        </p:txBody>
      </p:sp>
      <p:sp>
        <p:nvSpPr>
          <p:cNvPr id="17" name="Shape 15">
            <a:extLst>
              <a:ext uri="{FF2B5EF4-FFF2-40B4-BE49-F238E27FC236}">
                <a16:creationId xmlns:a16="http://schemas.microsoft.com/office/drawing/2014/main" id="{B0740A8B-3D28-3E9B-A4C8-9CC90EC388F6}"/>
              </a:ext>
            </a:extLst>
          </p:cNvPr>
          <p:cNvSpPr/>
          <p:nvPr/>
        </p:nvSpPr>
        <p:spPr>
          <a:xfrm>
            <a:off x="5010912" y="1481328"/>
            <a:ext cx="164592" cy="164592"/>
          </a:xfrm>
          <a:prstGeom prst="ellipse">
            <a:avLst/>
          </a:prstGeom>
          <a:solidFill>
            <a:srgbClr val="0EA5E9"/>
          </a:solidFill>
          <a:ln w="12700">
            <a:solidFill>
              <a:srgbClr val="333333"/>
            </a:solidFill>
            <a:prstDash val="solid"/>
          </a:ln>
        </p:spPr>
      </p:sp>
      <p:sp>
        <p:nvSpPr>
          <p:cNvPr id="18" name="Text 16">
            <a:extLst>
              <a:ext uri="{FF2B5EF4-FFF2-40B4-BE49-F238E27FC236}">
                <a16:creationId xmlns:a16="http://schemas.microsoft.com/office/drawing/2014/main" id="{C38F8626-BAA2-EC92-780A-5DFD0ABF1481}"/>
              </a:ext>
            </a:extLst>
          </p:cNvPr>
          <p:cNvSpPr/>
          <p:nvPr/>
        </p:nvSpPr>
        <p:spPr>
          <a:xfrm>
            <a:off x="5230368" y="1444752"/>
            <a:ext cx="3429000" cy="201168"/>
          </a:xfrm>
          <a:prstGeom prst="rect">
            <a:avLst/>
          </a:prstGeom>
          <a:noFill/>
          <a:ln/>
        </p:spPr>
        <p:txBody>
          <a:bodyPr wrap="square" rtlCol="0" anchor="ctr"/>
          <a:lstStyle/>
          <a:p>
            <a:pPr marL="0" indent="0">
              <a:buNone/>
            </a:pPr>
            <a:r>
              <a:rPr lang="en-US" sz="1000" b="1" dirty="0">
                <a:solidFill>
                  <a:srgbClr val="FFFFFF"/>
                </a:solidFill>
              </a:rPr>
              <a:t>Clinical accuracy</a:t>
            </a:r>
            <a:endParaRPr lang="en-US" sz="1000" dirty="0"/>
          </a:p>
        </p:txBody>
      </p:sp>
      <p:sp>
        <p:nvSpPr>
          <p:cNvPr id="19" name="Text 17">
            <a:extLst>
              <a:ext uri="{FF2B5EF4-FFF2-40B4-BE49-F238E27FC236}">
                <a16:creationId xmlns:a16="http://schemas.microsoft.com/office/drawing/2014/main" id="{9B135111-E71B-4CB7-9019-9188C539CBB3}"/>
              </a:ext>
            </a:extLst>
          </p:cNvPr>
          <p:cNvSpPr/>
          <p:nvPr/>
        </p:nvSpPr>
        <p:spPr>
          <a:xfrm>
            <a:off x="5230368" y="1645920"/>
            <a:ext cx="3429000" cy="256032"/>
          </a:xfrm>
          <a:prstGeom prst="rect">
            <a:avLst/>
          </a:prstGeom>
          <a:noFill/>
          <a:ln/>
        </p:spPr>
        <p:txBody>
          <a:bodyPr wrap="square" rtlCol="0" anchor="ctr"/>
          <a:lstStyle/>
          <a:p>
            <a:pPr marL="0" indent="0">
              <a:buNone/>
            </a:pPr>
            <a:r>
              <a:rPr lang="en-US" sz="850" dirty="0">
                <a:solidFill>
                  <a:srgbClr val="94A3B8"/>
                </a:solidFill>
              </a:rPr>
              <a:t>Lovastatin → Pregabalin (neuropathy) is a known medical association — learned from data alone</a:t>
            </a:r>
            <a:endParaRPr lang="en-US" sz="850" dirty="0"/>
          </a:p>
        </p:txBody>
      </p:sp>
      <p:sp>
        <p:nvSpPr>
          <p:cNvPr id="20" name="Shape 18">
            <a:extLst>
              <a:ext uri="{FF2B5EF4-FFF2-40B4-BE49-F238E27FC236}">
                <a16:creationId xmlns:a16="http://schemas.microsoft.com/office/drawing/2014/main" id="{919F0311-A113-EF9B-97F5-1E7BC5FD7CDB}"/>
              </a:ext>
            </a:extLst>
          </p:cNvPr>
          <p:cNvSpPr/>
          <p:nvPr/>
        </p:nvSpPr>
        <p:spPr>
          <a:xfrm>
            <a:off x="5010912" y="2084832"/>
            <a:ext cx="164592" cy="164592"/>
          </a:xfrm>
          <a:prstGeom prst="ellipse">
            <a:avLst/>
          </a:prstGeom>
          <a:solidFill>
            <a:srgbClr val="0EA5E9"/>
          </a:solidFill>
          <a:ln w="12700">
            <a:solidFill>
              <a:srgbClr val="333333"/>
            </a:solidFill>
            <a:prstDash val="solid"/>
          </a:ln>
        </p:spPr>
      </p:sp>
      <p:sp>
        <p:nvSpPr>
          <p:cNvPr id="21" name="Text 19">
            <a:extLst>
              <a:ext uri="{FF2B5EF4-FFF2-40B4-BE49-F238E27FC236}">
                <a16:creationId xmlns:a16="http://schemas.microsoft.com/office/drawing/2014/main" id="{9F88A52E-FDCE-F5EB-26E7-DAC7B5EC6F6B}"/>
              </a:ext>
            </a:extLst>
          </p:cNvPr>
          <p:cNvSpPr/>
          <p:nvPr/>
        </p:nvSpPr>
        <p:spPr>
          <a:xfrm>
            <a:off x="5230368" y="2048256"/>
            <a:ext cx="3429000" cy="201168"/>
          </a:xfrm>
          <a:prstGeom prst="rect">
            <a:avLst/>
          </a:prstGeom>
          <a:noFill/>
          <a:ln/>
        </p:spPr>
        <p:txBody>
          <a:bodyPr wrap="square" rtlCol="0" anchor="ctr"/>
          <a:lstStyle/>
          <a:p>
            <a:pPr marL="0" indent="0">
              <a:buNone/>
            </a:pPr>
            <a:r>
              <a:rPr lang="en-US" sz="1000" b="1" dirty="0">
                <a:solidFill>
                  <a:srgbClr val="FFFFFF"/>
                </a:solidFill>
              </a:rPr>
              <a:t>Intra-year precision</a:t>
            </a:r>
            <a:endParaRPr lang="en-US" sz="1000" dirty="0"/>
          </a:p>
        </p:txBody>
      </p:sp>
      <p:sp>
        <p:nvSpPr>
          <p:cNvPr id="22" name="Text 20">
            <a:extLst>
              <a:ext uri="{FF2B5EF4-FFF2-40B4-BE49-F238E27FC236}">
                <a16:creationId xmlns:a16="http://schemas.microsoft.com/office/drawing/2014/main" id="{FFBAB73E-8417-C35E-DCDF-DE0D654A38EA}"/>
              </a:ext>
            </a:extLst>
          </p:cNvPr>
          <p:cNvSpPr/>
          <p:nvPr/>
        </p:nvSpPr>
        <p:spPr>
          <a:xfrm>
            <a:off x="5230368" y="2249424"/>
            <a:ext cx="3429000" cy="256032"/>
          </a:xfrm>
          <a:prstGeom prst="rect">
            <a:avLst/>
          </a:prstGeom>
          <a:noFill/>
          <a:ln/>
        </p:spPr>
        <p:txBody>
          <a:bodyPr wrap="square" rtlCol="0" anchor="ctr"/>
          <a:lstStyle/>
          <a:p>
            <a:pPr marL="0" indent="0">
              <a:buNone/>
            </a:pPr>
            <a:r>
              <a:rPr lang="en-US" sz="850" dirty="0">
                <a:solidFill>
                  <a:srgbClr val="94A3B8"/>
                </a:solidFill>
              </a:rPr>
              <a:t>Within 2008–2009 training block, transition probabilities match published clinical pathway guidelines</a:t>
            </a:r>
            <a:endParaRPr lang="en-US" sz="850" dirty="0"/>
          </a:p>
        </p:txBody>
      </p:sp>
      <p:sp>
        <p:nvSpPr>
          <p:cNvPr id="23" name="Shape 21">
            <a:extLst>
              <a:ext uri="{FF2B5EF4-FFF2-40B4-BE49-F238E27FC236}">
                <a16:creationId xmlns:a16="http://schemas.microsoft.com/office/drawing/2014/main" id="{941B5733-DA11-B9CA-6292-D29286E7775E}"/>
              </a:ext>
            </a:extLst>
          </p:cNvPr>
          <p:cNvSpPr/>
          <p:nvPr/>
        </p:nvSpPr>
        <p:spPr>
          <a:xfrm>
            <a:off x="5010912" y="2688336"/>
            <a:ext cx="164592" cy="164592"/>
          </a:xfrm>
          <a:prstGeom prst="ellipse">
            <a:avLst/>
          </a:prstGeom>
          <a:solidFill>
            <a:srgbClr val="0EA5E9"/>
          </a:solidFill>
          <a:ln w="12700">
            <a:solidFill>
              <a:srgbClr val="333333"/>
            </a:solidFill>
            <a:prstDash val="solid"/>
          </a:ln>
        </p:spPr>
      </p:sp>
      <p:sp>
        <p:nvSpPr>
          <p:cNvPr id="24" name="Text 22">
            <a:extLst>
              <a:ext uri="{FF2B5EF4-FFF2-40B4-BE49-F238E27FC236}">
                <a16:creationId xmlns:a16="http://schemas.microsoft.com/office/drawing/2014/main" id="{1476177A-5047-47AE-3E23-8E995F79AC01}"/>
              </a:ext>
            </a:extLst>
          </p:cNvPr>
          <p:cNvSpPr/>
          <p:nvPr/>
        </p:nvSpPr>
        <p:spPr>
          <a:xfrm>
            <a:off x="5230368" y="2651760"/>
            <a:ext cx="3429000" cy="201168"/>
          </a:xfrm>
          <a:prstGeom prst="rect">
            <a:avLst/>
          </a:prstGeom>
          <a:noFill/>
          <a:ln/>
        </p:spPr>
        <p:txBody>
          <a:bodyPr wrap="square" rtlCol="0" anchor="ctr"/>
          <a:lstStyle/>
          <a:p>
            <a:pPr marL="0" indent="0">
              <a:buNone/>
            </a:pPr>
            <a:r>
              <a:rPr lang="en-US" sz="1000" b="1" dirty="0">
                <a:solidFill>
                  <a:srgbClr val="FFFFFF"/>
                </a:solidFill>
              </a:rPr>
              <a:t>Context sensitivity</a:t>
            </a:r>
            <a:endParaRPr lang="en-US" sz="1000" dirty="0"/>
          </a:p>
        </p:txBody>
      </p:sp>
      <p:sp>
        <p:nvSpPr>
          <p:cNvPr id="25" name="Text 23">
            <a:extLst>
              <a:ext uri="{FF2B5EF4-FFF2-40B4-BE49-F238E27FC236}">
                <a16:creationId xmlns:a16="http://schemas.microsoft.com/office/drawing/2014/main" id="{4C9CB03C-B4FB-35D1-B7DD-919D87A0F933}"/>
              </a:ext>
            </a:extLst>
          </p:cNvPr>
          <p:cNvSpPr/>
          <p:nvPr/>
        </p:nvSpPr>
        <p:spPr>
          <a:xfrm>
            <a:off x="5230368" y="2852928"/>
            <a:ext cx="3429000" cy="256032"/>
          </a:xfrm>
          <a:prstGeom prst="rect">
            <a:avLst/>
          </a:prstGeom>
          <a:noFill/>
          <a:ln/>
        </p:spPr>
        <p:txBody>
          <a:bodyPr wrap="square" rtlCol="0" anchor="ctr"/>
          <a:lstStyle/>
          <a:p>
            <a:pPr marL="0" indent="0">
              <a:buNone/>
            </a:pPr>
            <a:r>
              <a:rPr lang="en-US" sz="850" dirty="0">
                <a:solidFill>
                  <a:srgbClr val="94A3B8"/>
                </a:solidFill>
              </a:rPr>
              <a:t>The engine produces different, clinically meaningful outputs per condition flag — not random variation</a:t>
            </a:r>
            <a:endParaRPr lang="en-US" sz="850" dirty="0"/>
          </a:p>
        </p:txBody>
      </p:sp>
      <p:sp>
        <p:nvSpPr>
          <p:cNvPr id="26" name="Shape 24">
            <a:extLst>
              <a:ext uri="{FF2B5EF4-FFF2-40B4-BE49-F238E27FC236}">
                <a16:creationId xmlns:a16="http://schemas.microsoft.com/office/drawing/2014/main" id="{BBD1E21A-D69B-13CF-E9D2-6AB09843CFEA}"/>
              </a:ext>
            </a:extLst>
          </p:cNvPr>
          <p:cNvSpPr/>
          <p:nvPr/>
        </p:nvSpPr>
        <p:spPr>
          <a:xfrm>
            <a:off x="5010912" y="3291840"/>
            <a:ext cx="164592" cy="164592"/>
          </a:xfrm>
          <a:prstGeom prst="ellipse">
            <a:avLst/>
          </a:prstGeom>
          <a:solidFill>
            <a:srgbClr val="0EA5E9"/>
          </a:solidFill>
          <a:ln w="12700">
            <a:solidFill>
              <a:srgbClr val="333333"/>
            </a:solidFill>
            <a:prstDash val="solid"/>
          </a:ln>
        </p:spPr>
      </p:sp>
      <p:sp>
        <p:nvSpPr>
          <p:cNvPr id="27" name="Text 25">
            <a:extLst>
              <a:ext uri="{FF2B5EF4-FFF2-40B4-BE49-F238E27FC236}">
                <a16:creationId xmlns:a16="http://schemas.microsoft.com/office/drawing/2014/main" id="{FC2F738D-EAEB-8662-5BC8-E2F326F214B3}"/>
              </a:ext>
            </a:extLst>
          </p:cNvPr>
          <p:cNvSpPr/>
          <p:nvPr/>
        </p:nvSpPr>
        <p:spPr>
          <a:xfrm>
            <a:off x="5230368" y="3255264"/>
            <a:ext cx="3429000" cy="201168"/>
          </a:xfrm>
          <a:prstGeom prst="rect">
            <a:avLst/>
          </a:prstGeom>
          <a:noFill/>
          <a:ln/>
        </p:spPr>
        <p:txBody>
          <a:bodyPr wrap="square" rtlCol="0" anchor="ctr"/>
          <a:lstStyle/>
          <a:p>
            <a:pPr marL="0" indent="0">
              <a:buNone/>
            </a:pPr>
            <a:r>
              <a:rPr lang="en-US" sz="1000" b="1" dirty="0">
                <a:solidFill>
                  <a:srgbClr val="FFFFFF"/>
                </a:solidFill>
              </a:rPr>
              <a:t>Production readiness</a:t>
            </a:r>
            <a:endParaRPr lang="en-US" sz="1000" dirty="0"/>
          </a:p>
        </p:txBody>
      </p:sp>
      <p:sp>
        <p:nvSpPr>
          <p:cNvPr id="28" name="Text 26">
            <a:extLst>
              <a:ext uri="{FF2B5EF4-FFF2-40B4-BE49-F238E27FC236}">
                <a16:creationId xmlns:a16="http://schemas.microsoft.com/office/drawing/2014/main" id="{9727DE02-2DF8-939B-37FF-CB49F65522F9}"/>
              </a:ext>
            </a:extLst>
          </p:cNvPr>
          <p:cNvSpPr/>
          <p:nvPr/>
        </p:nvSpPr>
        <p:spPr>
          <a:xfrm>
            <a:off x="5230368" y="3456432"/>
            <a:ext cx="3429000" cy="256032"/>
          </a:xfrm>
          <a:prstGeom prst="rect">
            <a:avLst/>
          </a:prstGeom>
          <a:noFill/>
          <a:ln/>
        </p:spPr>
        <p:txBody>
          <a:bodyPr wrap="square" rtlCol="0" anchor="ctr"/>
          <a:lstStyle/>
          <a:p>
            <a:pPr marL="0" indent="0">
              <a:buNone/>
            </a:pPr>
            <a:r>
              <a:rPr lang="en-US" sz="850" dirty="0">
                <a:solidFill>
                  <a:srgbClr val="94A3B8"/>
                </a:solidFill>
              </a:rPr>
              <a:t>With real, un-scrambled Pharmacy2U data, temporal validation will hold immediately</a:t>
            </a:r>
            <a:endParaRPr lang="en-US" sz="850" dirty="0"/>
          </a:p>
        </p:txBody>
      </p:sp>
    </p:spTree>
    <p:extLst>
      <p:ext uri="{BB962C8B-B14F-4D97-AF65-F5344CB8AC3E}">
        <p14:creationId xmlns:p14="http://schemas.microsoft.com/office/powerpoint/2010/main" val="1324767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8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21828"/>
          </a:solidFill>
          <a:ln w="12700">
            <a:solidFill>
              <a:srgbClr val="028090"/>
            </a:solidFill>
            <a:prstDash val="solid"/>
          </a:ln>
        </p:spPr>
      </p:sp>
      <p:sp>
        <p:nvSpPr>
          <p:cNvPr id="3" name="Text 1"/>
          <p:cNvSpPr/>
          <p:nvPr/>
        </p:nvSpPr>
        <p:spPr>
          <a:xfrm>
            <a:off x="365760" y="0"/>
            <a:ext cx="8412480" cy="868680"/>
          </a:xfrm>
          <a:prstGeom prst="rect">
            <a:avLst/>
          </a:prstGeom>
          <a:noFill/>
          <a:ln/>
        </p:spPr>
        <p:txBody>
          <a:bodyPr wrap="square" rtlCol="0" anchor="ctr"/>
          <a:lstStyle/>
          <a:p>
            <a:pPr marL="0" indent="0">
              <a:buNone/>
            </a:pPr>
            <a:r>
              <a:rPr lang="en-US" sz="2600" b="1" dirty="0">
                <a:solidFill>
                  <a:srgbClr val="FFFFFF"/>
                </a:solidFill>
              </a:rPr>
              <a:t>From Lab to Life: The Value Proposition</a:t>
            </a:r>
            <a:endParaRPr lang="en-US" sz="2600" dirty="0"/>
          </a:p>
        </p:txBody>
      </p:sp>
      <p:sp>
        <p:nvSpPr>
          <p:cNvPr id="4" name="Shape 2"/>
          <p:cNvSpPr/>
          <p:nvPr/>
        </p:nvSpPr>
        <p:spPr>
          <a:xfrm>
            <a:off x="228600" y="960120"/>
            <a:ext cx="4160520" cy="3886200"/>
          </a:xfrm>
          <a:prstGeom prst="rect">
            <a:avLst/>
          </a:prstGeom>
          <a:solidFill>
            <a:srgbClr val="065A82">
              <a:alpha val="15000"/>
            </a:srgbClr>
          </a:solidFill>
          <a:ln w="19050">
            <a:solidFill>
              <a:srgbClr val="065A82"/>
            </a:solidFill>
            <a:prstDash val="solid"/>
          </a:ln>
        </p:spPr>
      </p:sp>
      <p:sp>
        <p:nvSpPr>
          <p:cNvPr id="5" name="Shape 3"/>
          <p:cNvSpPr/>
          <p:nvPr/>
        </p:nvSpPr>
        <p:spPr>
          <a:xfrm>
            <a:off x="228600" y="960120"/>
            <a:ext cx="4160520" cy="502920"/>
          </a:xfrm>
          <a:prstGeom prst="rect">
            <a:avLst/>
          </a:prstGeom>
          <a:solidFill>
            <a:srgbClr val="02C39A"/>
          </a:solidFill>
          <a:ln w="12700">
            <a:solidFill>
              <a:srgbClr val="065A82"/>
            </a:solidFill>
            <a:prstDash val="solid"/>
          </a:ln>
        </p:spPr>
      </p:sp>
      <p:sp>
        <p:nvSpPr>
          <p:cNvPr id="6" name="Text 4"/>
          <p:cNvSpPr/>
          <p:nvPr/>
        </p:nvSpPr>
        <p:spPr>
          <a:xfrm>
            <a:off x="320040" y="960120"/>
            <a:ext cx="3977640" cy="502920"/>
          </a:xfrm>
          <a:prstGeom prst="rect">
            <a:avLst/>
          </a:prstGeom>
          <a:noFill/>
          <a:ln/>
        </p:spPr>
        <p:txBody>
          <a:bodyPr wrap="square" rtlCol="0" anchor="ctr"/>
          <a:lstStyle/>
          <a:p>
            <a:pPr marL="0" indent="0">
              <a:buNone/>
            </a:pPr>
            <a:r>
              <a:rPr lang="en-US" sz="1400" b="1" dirty="0">
                <a:solidFill>
                  <a:srgbClr val="FFFFFF"/>
                </a:solidFill>
              </a:rPr>
              <a:t>👤  Value for the Patient</a:t>
            </a:r>
            <a:endParaRPr lang="en-US" sz="1400" dirty="0"/>
          </a:p>
        </p:txBody>
      </p:sp>
      <p:sp>
        <p:nvSpPr>
          <p:cNvPr id="7" name="Text 5"/>
          <p:cNvSpPr/>
          <p:nvPr/>
        </p:nvSpPr>
        <p:spPr>
          <a:xfrm>
            <a:off x="365760" y="1572768"/>
            <a:ext cx="3931920" cy="3108960"/>
          </a:xfrm>
          <a:prstGeom prst="rect">
            <a:avLst/>
          </a:prstGeom>
          <a:noFill/>
          <a:ln/>
        </p:spPr>
        <p:txBody>
          <a:bodyPr wrap="square" rtlCol="0" anchor="t"/>
          <a:lstStyle/>
          <a:p>
            <a:pPr marL="0" indent="0">
              <a:spcAft>
                <a:spcPts val="800"/>
              </a:spcAft>
              <a:buNone/>
            </a:pPr>
            <a:r>
              <a:rPr lang="en-US" sz="1150" dirty="0">
                <a:solidFill>
                  <a:srgbClr val="FFFFFF"/>
                </a:solidFill>
              </a:rPr>
              <a:t>Proactive, not reactive — know what's coming before symptoms appear</a:t>
            </a:r>
            <a:endParaRPr lang="en-US" sz="1150" dirty="0"/>
          </a:p>
          <a:p>
            <a:pPr marL="0" indent="0">
              <a:spcAft>
                <a:spcPts val="800"/>
              </a:spcAft>
              <a:buNone/>
            </a:pPr>
            <a:endParaRPr lang="en-US" sz="1150" dirty="0"/>
          </a:p>
          <a:p>
            <a:pPr marL="0" indent="0">
              <a:spcAft>
                <a:spcPts val="800"/>
              </a:spcAft>
              <a:buNone/>
            </a:pPr>
            <a:r>
              <a:rPr lang="en-US" sz="1150" dirty="0">
                <a:solidFill>
                  <a:srgbClr val="FFFFFF"/>
                </a:solidFill>
              </a:rPr>
              <a:t>Educated on the why of their health journey</a:t>
            </a:r>
            <a:endParaRPr lang="en-US" sz="1150" dirty="0"/>
          </a:p>
          <a:p>
            <a:pPr marL="0" indent="0">
              <a:spcAft>
                <a:spcPts val="800"/>
              </a:spcAft>
              <a:buNone/>
            </a:pPr>
            <a:endParaRPr lang="en-US" sz="1150" dirty="0"/>
          </a:p>
          <a:p>
            <a:pPr marL="0" indent="0">
              <a:spcAft>
                <a:spcPts val="800"/>
              </a:spcAft>
              <a:buNone/>
            </a:pPr>
            <a:r>
              <a:rPr lang="en-US" sz="1150" dirty="0">
                <a:solidFill>
                  <a:srgbClr val="FFFFFF"/>
                </a:solidFill>
              </a:rPr>
              <a:t>Builds deep trust: Pharmacy2U becomes a healthcare guide, not just a dispenser</a:t>
            </a:r>
            <a:endParaRPr lang="en-US" sz="1150" dirty="0"/>
          </a:p>
          <a:p>
            <a:pPr marL="0" indent="0">
              <a:spcAft>
                <a:spcPts val="800"/>
              </a:spcAft>
              <a:buNone/>
            </a:pPr>
            <a:endParaRPr lang="en-US" sz="1150" dirty="0"/>
          </a:p>
          <a:p>
            <a:pPr marL="0" indent="0">
              <a:spcAft>
                <a:spcPts val="800"/>
              </a:spcAft>
              <a:buNone/>
            </a:pPr>
            <a:r>
              <a:rPr lang="en-US" sz="1150" dirty="0">
                <a:solidFill>
                  <a:srgbClr val="FFFFFF"/>
                </a:solidFill>
              </a:rPr>
              <a:t>Example: Diabetic on Lovastatin is offered diabetic foot-care support before neuropathy onset</a:t>
            </a:r>
            <a:endParaRPr lang="en-US" sz="1150" dirty="0"/>
          </a:p>
        </p:txBody>
      </p:sp>
      <p:sp>
        <p:nvSpPr>
          <p:cNvPr id="8" name="Shape 6"/>
          <p:cNvSpPr/>
          <p:nvPr/>
        </p:nvSpPr>
        <p:spPr>
          <a:xfrm>
            <a:off x="4800600" y="960120"/>
            <a:ext cx="4160520" cy="3886200"/>
          </a:xfrm>
          <a:prstGeom prst="rect">
            <a:avLst/>
          </a:prstGeom>
          <a:solidFill>
            <a:srgbClr val="02C39A">
              <a:alpha val="15000"/>
            </a:srgbClr>
          </a:solidFill>
          <a:ln w="19050">
            <a:solidFill>
              <a:srgbClr val="02C39A"/>
            </a:solidFill>
            <a:prstDash val="solid"/>
          </a:ln>
        </p:spPr>
      </p:sp>
      <p:sp>
        <p:nvSpPr>
          <p:cNvPr id="9" name="Shape 7"/>
          <p:cNvSpPr/>
          <p:nvPr/>
        </p:nvSpPr>
        <p:spPr>
          <a:xfrm>
            <a:off x="4800600" y="960120"/>
            <a:ext cx="4160520" cy="502920"/>
          </a:xfrm>
          <a:prstGeom prst="rect">
            <a:avLst/>
          </a:prstGeom>
          <a:solidFill>
            <a:srgbClr val="02C39A"/>
          </a:solidFill>
          <a:ln w="12700">
            <a:solidFill>
              <a:srgbClr val="02C39A"/>
            </a:solidFill>
            <a:prstDash val="solid"/>
          </a:ln>
        </p:spPr>
      </p:sp>
      <p:sp>
        <p:nvSpPr>
          <p:cNvPr id="10" name="Text 8"/>
          <p:cNvSpPr/>
          <p:nvPr/>
        </p:nvSpPr>
        <p:spPr>
          <a:xfrm>
            <a:off x="4892040" y="960120"/>
            <a:ext cx="3977640" cy="502920"/>
          </a:xfrm>
          <a:prstGeom prst="rect">
            <a:avLst/>
          </a:prstGeom>
          <a:noFill/>
          <a:ln/>
        </p:spPr>
        <p:txBody>
          <a:bodyPr wrap="square" rtlCol="0" anchor="ctr"/>
          <a:lstStyle/>
          <a:p>
            <a:pPr marL="0" indent="0">
              <a:buNone/>
            </a:pPr>
            <a:r>
              <a:rPr lang="en-US" sz="1400" b="1" dirty="0">
                <a:solidFill>
                  <a:srgbClr val="FFFFFF"/>
                </a:solidFill>
              </a:rPr>
              <a:t>🏥  Value for Pharmacy2U</a:t>
            </a:r>
            <a:endParaRPr lang="en-US" sz="1400" dirty="0"/>
          </a:p>
        </p:txBody>
      </p:sp>
      <p:sp>
        <p:nvSpPr>
          <p:cNvPr id="11" name="Text 9"/>
          <p:cNvSpPr/>
          <p:nvPr/>
        </p:nvSpPr>
        <p:spPr>
          <a:xfrm>
            <a:off x="4937760" y="1572768"/>
            <a:ext cx="3931920" cy="3108960"/>
          </a:xfrm>
          <a:prstGeom prst="rect">
            <a:avLst/>
          </a:prstGeom>
          <a:noFill/>
          <a:ln/>
        </p:spPr>
        <p:txBody>
          <a:bodyPr wrap="square" rtlCol="0" anchor="t"/>
          <a:lstStyle/>
          <a:p>
            <a:pPr marL="0" indent="0">
              <a:spcAft>
                <a:spcPts val="800"/>
              </a:spcAft>
              <a:buNone/>
            </a:pPr>
            <a:r>
              <a:rPr lang="en-US" sz="1150" dirty="0">
                <a:solidFill>
                  <a:srgbClr val="FFFFFF"/>
                </a:solidFill>
              </a:rPr>
              <a:t>Responsible clinical cross-sell: predict the next clinical need accurately</a:t>
            </a:r>
            <a:endParaRPr lang="en-US" sz="1150" dirty="0"/>
          </a:p>
          <a:p>
            <a:pPr marL="0" indent="0">
              <a:spcAft>
                <a:spcPts val="800"/>
              </a:spcAft>
              <a:buNone/>
            </a:pPr>
            <a:endParaRPr lang="en-US" sz="1150" dirty="0"/>
          </a:p>
          <a:p>
            <a:pPr marL="0" indent="0">
              <a:spcAft>
                <a:spcPts val="800"/>
              </a:spcAft>
              <a:buNone/>
            </a:pPr>
            <a:r>
              <a:rPr lang="en-US" sz="1150" dirty="0">
                <a:solidFill>
                  <a:srgbClr val="FFFFFF"/>
                </a:solidFill>
              </a:rPr>
              <a:t>Optimise local supply chain inventory ahead of demand shifts</a:t>
            </a:r>
            <a:endParaRPr lang="en-US" sz="1150" dirty="0"/>
          </a:p>
          <a:p>
            <a:pPr marL="0" indent="0">
              <a:spcAft>
                <a:spcPts val="800"/>
              </a:spcAft>
              <a:buNone/>
            </a:pPr>
            <a:endParaRPr lang="en-US" sz="1150" dirty="0"/>
          </a:p>
          <a:p>
            <a:pPr marL="0" indent="0">
              <a:spcAft>
                <a:spcPts val="800"/>
              </a:spcAft>
              <a:buNone/>
            </a:pPr>
            <a:r>
              <a:rPr lang="en-US" sz="1150" dirty="0">
                <a:solidFill>
                  <a:srgbClr val="FFFFFF"/>
                </a:solidFill>
              </a:rPr>
              <a:t>Dramatically boost customer LTV through guided clinical journeys</a:t>
            </a:r>
            <a:endParaRPr lang="en-US" sz="1150" dirty="0"/>
          </a:p>
          <a:p>
            <a:pPr marL="0" indent="0">
              <a:spcAft>
                <a:spcPts val="800"/>
              </a:spcAft>
              <a:buNone/>
            </a:pPr>
            <a:endParaRPr lang="en-US" sz="1150" dirty="0"/>
          </a:p>
          <a:p>
            <a:pPr marL="0" indent="0">
              <a:spcAft>
                <a:spcPts val="800"/>
              </a:spcAft>
              <a:buNone/>
            </a:pPr>
            <a:r>
              <a:rPr lang="en-US" sz="1150" dirty="0">
                <a:solidFill>
                  <a:srgbClr val="FFFFFF"/>
                </a:solidFill>
              </a:rPr>
              <a:t>Solidify brand as a holistic healthcare partner — not just a pharmacy</a:t>
            </a:r>
            <a:endParaRPr lang="en-US" sz="1150" dirty="0"/>
          </a:p>
        </p:txBody>
      </p:sp>
      <p:sp>
        <p:nvSpPr>
          <p:cNvPr id="12" name="Shape 10"/>
          <p:cNvSpPr/>
          <p:nvPr/>
        </p:nvSpPr>
        <p:spPr>
          <a:xfrm>
            <a:off x="0" y="4918710"/>
            <a:ext cx="9144000" cy="167640"/>
          </a:xfrm>
          <a:prstGeom prst="rect">
            <a:avLst/>
          </a:prstGeom>
          <a:solidFill>
            <a:srgbClr val="02C39A">
              <a:alpha val="70000"/>
            </a:srgbClr>
          </a:solidFill>
          <a:ln w="12700">
            <a:solidFill>
              <a:srgbClr val="02C39A"/>
            </a:solidFill>
            <a:prstDash val="solid"/>
          </a:ln>
        </p:spPr>
      </p:sp>
      <p:sp>
        <p:nvSpPr>
          <p:cNvPr id="13" name="Text 11"/>
          <p:cNvSpPr/>
          <p:nvPr/>
        </p:nvSpPr>
        <p:spPr>
          <a:xfrm>
            <a:off x="182880" y="4818888"/>
            <a:ext cx="8778240" cy="324612"/>
          </a:xfrm>
          <a:prstGeom prst="rect">
            <a:avLst/>
          </a:prstGeom>
          <a:noFill/>
          <a:ln/>
        </p:spPr>
        <p:txBody>
          <a:bodyPr wrap="square" rtlCol="0" anchor="ctr"/>
          <a:lstStyle/>
          <a:p>
            <a:pPr marL="0" indent="0" algn="ctr">
              <a:buNone/>
            </a:pPr>
            <a:r>
              <a:rPr lang="en-US" sz="1000" i="1" dirty="0">
                <a:solidFill>
                  <a:srgbClr val="FFFFFF"/>
                </a:solidFill>
              </a:rPr>
              <a:t>This is not a prescribing tool — it's a responsible proactive engagement and supply chain intelligence engine.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5">
    <p:bg>
      <p:bgPr>
        <a:solidFill>
          <a:srgbClr val="0D0D1A"/>
        </a:solidFill>
        <a:effectLst/>
      </p:bgPr>
    </p:bg>
    <p:spTree>
      <p:nvGrpSpPr>
        <p:cNvPr id="1" name=""/>
        <p:cNvGrpSpPr/>
        <p:nvPr/>
      </p:nvGrpSpPr>
      <p:grpSpPr>
        <a:xfrm>
          <a:off x="0" y="0"/>
          <a:ext cx="0" cy="0"/>
          <a:chOff x="0" y="0"/>
          <a:chExt cx="0" cy="0"/>
        </a:xfrm>
      </p:grpSpPr>
      <p:sp>
        <p:nvSpPr>
          <p:cNvPr id="2" name="Shape 0"/>
          <p:cNvSpPr/>
          <p:nvPr/>
        </p:nvSpPr>
        <p:spPr>
          <a:xfrm>
            <a:off x="-731520" y="3200400"/>
            <a:ext cx="3657600" cy="3657600"/>
          </a:xfrm>
          <a:prstGeom prst="ellipse">
            <a:avLst/>
          </a:prstGeom>
          <a:solidFill>
            <a:srgbClr val="0EA5E9">
              <a:alpha val="9000"/>
            </a:srgbClr>
          </a:solidFill>
          <a:ln w="12700">
            <a:solidFill>
              <a:srgbClr val="333333"/>
            </a:solidFill>
            <a:prstDash val="solid"/>
          </a:ln>
        </p:spPr>
      </p:sp>
      <p:sp>
        <p:nvSpPr>
          <p:cNvPr id="3" name="Shape 1"/>
          <p:cNvSpPr/>
          <p:nvPr/>
        </p:nvSpPr>
        <p:spPr>
          <a:xfrm>
            <a:off x="7498080" y="-731520"/>
            <a:ext cx="3200400" cy="3200400"/>
          </a:xfrm>
          <a:prstGeom prst="ellipse">
            <a:avLst/>
          </a:prstGeom>
          <a:solidFill>
            <a:srgbClr val="10B981">
              <a:alpha val="8000"/>
            </a:srgbClr>
          </a:solidFill>
          <a:ln w="12700">
            <a:solidFill>
              <a:srgbClr val="333333"/>
            </a:solidFill>
            <a:prstDash val="solid"/>
          </a:ln>
        </p:spPr>
      </p:sp>
      <p:sp>
        <p:nvSpPr>
          <p:cNvPr id="4" name="Text 2"/>
          <p:cNvSpPr/>
          <p:nvPr/>
        </p:nvSpPr>
        <p:spPr>
          <a:xfrm>
            <a:off x="502920" y="274320"/>
            <a:ext cx="8229600" cy="365760"/>
          </a:xfrm>
          <a:prstGeom prst="rect">
            <a:avLst/>
          </a:prstGeom>
          <a:noFill/>
          <a:ln/>
        </p:spPr>
        <p:txBody>
          <a:bodyPr wrap="square" rtlCol="0" anchor="ctr"/>
          <a:lstStyle/>
          <a:p>
            <a:pPr marL="0" indent="0">
              <a:buNone/>
            </a:pPr>
            <a:r>
              <a:rPr lang="en-US" sz="1100" b="1" kern="0" spc="200" dirty="0">
                <a:solidFill>
                  <a:srgbClr val="0EA5E9"/>
                </a:solidFill>
              </a:rPr>
              <a:t>Three things to remember</a:t>
            </a:r>
            <a:endParaRPr lang="en-US" sz="1100" dirty="0"/>
          </a:p>
        </p:txBody>
      </p:sp>
      <p:sp>
        <p:nvSpPr>
          <p:cNvPr id="5" name="Shape 3"/>
          <p:cNvSpPr/>
          <p:nvPr/>
        </p:nvSpPr>
        <p:spPr>
          <a:xfrm>
            <a:off x="365760" y="777240"/>
            <a:ext cx="8412480" cy="1078992"/>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6" name="Shape 4"/>
          <p:cNvSpPr/>
          <p:nvPr/>
        </p:nvSpPr>
        <p:spPr>
          <a:xfrm>
            <a:off x="365760" y="777240"/>
            <a:ext cx="64008" cy="1078992"/>
          </a:xfrm>
          <a:prstGeom prst="rect">
            <a:avLst/>
          </a:prstGeom>
          <a:solidFill>
            <a:srgbClr val="0EA5E9"/>
          </a:solidFill>
          <a:ln w="12700">
            <a:solidFill>
              <a:srgbClr val="333333"/>
            </a:solidFill>
            <a:prstDash val="solid"/>
          </a:ln>
        </p:spPr>
      </p:sp>
      <p:sp>
        <p:nvSpPr>
          <p:cNvPr id="7" name="Shape 5"/>
          <p:cNvSpPr/>
          <p:nvPr/>
        </p:nvSpPr>
        <p:spPr>
          <a:xfrm>
            <a:off x="502920" y="822960"/>
            <a:ext cx="384048" cy="384048"/>
          </a:xfrm>
          <a:prstGeom prst="ellipse">
            <a:avLst/>
          </a:prstGeom>
          <a:solidFill>
            <a:srgbClr val="0EA5E9"/>
          </a:solidFill>
          <a:ln w="12700">
            <a:solidFill>
              <a:srgbClr val="333333"/>
            </a:solidFill>
            <a:prstDash val="solid"/>
          </a:ln>
        </p:spPr>
      </p:sp>
      <p:sp>
        <p:nvSpPr>
          <p:cNvPr id="8" name="Text 6"/>
          <p:cNvSpPr/>
          <p:nvPr/>
        </p:nvSpPr>
        <p:spPr>
          <a:xfrm>
            <a:off x="502920" y="822960"/>
            <a:ext cx="384048" cy="384048"/>
          </a:xfrm>
          <a:prstGeom prst="rect">
            <a:avLst/>
          </a:prstGeom>
          <a:noFill/>
          <a:ln/>
        </p:spPr>
        <p:txBody>
          <a:bodyPr wrap="square" rtlCol="0" anchor="ctr"/>
          <a:lstStyle/>
          <a:p>
            <a:pPr marL="0" indent="0" algn="ctr">
              <a:buNone/>
            </a:pPr>
            <a:r>
              <a:rPr lang="en-US" sz="1500" b="1" dirty="0">
                <a:solidFill>
                  <a:srgbClr val="0D0D1A"/>
                </a:solidFill>
              </a:rPr>
              <a:t>1</a:t>
            </a:r>
            <a:endParaRPr lang="en-US" sz="1500" dirty="0"/>
          </a:p>
        </p:txBody>
      </p:sp>
      <p:sp>
        <p:nvSpPr>
          <p:cNvPr id="9" name="Text 7"/>
          <p:cNvSpPr/>
          <p:nvPr/>
        </p:nvSpPr>
        <p:spPr>
          <a:xfrm>
            <a:off x="1005840" y="850392"/>
            <a:ext cx="7498080" cy="274320"/>
          </a:xfrm>
          <a:prstGeom prst="rect">
            <a:avLst/>
          </a:prstGeom>
          <a:noFill/>
          <a:ln/>
        </p:spPr>
        <p:txBody>
          <a:bodyPr wrap="square" rtlCol="0" anchor="ctr"/>
          <a:lstStyle/>
          <a:p>
            <a:pPr marL="0" indent="0">
              <a:buNone/>
            </a:pPr>
            <a:r>
              <a:rPr lang="en-US" sz="1300" b="1" dirty="0">
                <a:solidFill>
                  <a:srgbClr val="FFFFFF"/>
                </a:solidFill>
              </a:rPr>
              <a:t>Prescription history is a clinical pathway</a:t>
            </a:r>
            <a:endParaRPr lang="en-US" sz="1300" dirty="0"/>
          </a:p>
        </p:txBody>
      </p:sp>
      <p:sp>
        <p:nvSpPr>
          <p:cNvPr id="10" name="Text 8"/>
          <p:cNvSpPr/>
          <p:nvPr/>
        </p:nvSpPr>
        <p:spPr>
          <a:xfrm>
            <a:off x="1005840" y="1152144"/>
            <a:ext cx="7498080" cy="475488"/>
          </a:xfrm>
          <a:prstGeom prst="rect">
            <a:avLst/>
          </a:prstGeom>
          <a:noFill/>
          <a:ln/>
        </p:spPr>
        <p:txBody>
          <a:bodyPr wrap="square" rtlCol="0" anchor="ctr"/>
          <a:lstStyle/>
          <a:p>
            <a:pPr marL="0" indent="0">
              <a:buNone/>
            </a:pPr>
            <a:r>
              <a:rPr lang="en-US" sz="1050" dirty="0">
                <a:solidFill>
                  <a:srgbClr val="94A3B8"/>
                </a:solidFill>
              </a:rPr>
              <a:t>5.2M events encode real medical progressions. The signal is there — it just needed extracting.</a:t>
            </a:r>
            <a:endParaRPr lang="en-US" sz="1050" dirty="0"/>
          </a:p>
        </p:txBody>
      </p:sp>
      <p:sp>
        <p:nvSpPr>
          <p:cNvPr id="11" name="Shape 9"/>
          <p:cNvSpPr/>
          <p:nvPr/>
        </p:nvSpPr>
        <p:spPr>
          <a:xfrm>
            <a:off x="365760" y="1965960"/>
            <a:ext cx="8412480" cy="1078992"/>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12" name="Shape 10"/>
          <p:cNvSpPr/>
          <p:nvPr/>
        </p:nvSpPr>
        <p:spPr>
          <a:xfrm>
            <a:off x="365760" y="1965960"/>
            <a:ext cx="64008" cy="1078992"/>
          </a:xfrm>
          <a:prstGeom prst="rect">
            <a:avLst/>
          </a:prstGeom>
          <a:solidFill>
            <a:srgbClr val="10B981"/>
          </a:solidFill>
          <a:ln w="12700">
            <a:solidFill>
              <a:srgbClr val="333333"/>
            </a:solidFill>
            <a:prstDash val="solid"/>
          </a:ln>
        </p:spPr>
      </p:sp>
      <p:sp>
        <p:nvSpPr>
          <p:cNvPr id="13" name="Shape 11"/>
          <p:cNvSpPr/>
          <p:nvPr/>
        </p:nvSpPr>
        <p:spPr>
          <a:xfrm>
            <a:off x="502920" y="2011680"/>
            <a:ext cx="384048" cy="384048"/>
          </a:xfrm>
          <a:prstGeom prst="ellipse">
            <a:avLst/>
          </a:prstGeom>
          <a:solidFill>
            <a:srgbClr val="10B981"/>
          </a:solidFill>
          <a:ln w="12700">
            <a:solidFill>
              <a:srgbClr val="333333"/>
            </a:solidFill>
            <a:prstDash val="solid"/>
          </a:ln>
        </p:spPr>
      </p:sp>
      <p:sp>
        <p:nvSpPr>
          <p:cNvPr id="14" name="Text 12"/>
          <p:cNvSpPr/>
          <p:nvPr/>
        </p:nvSpPr>
        <p:spPr>
          <a:xfrm>
            <a:off x="502920" y="2011680"/>
            <a:ext cx="384048" cy="384048"/>
          </a:xfrm>
          <a:prstGeom prst="rect">
            <a:avLst/>
          </a:prstGeom>
          <a:noFill/>
          <a:ln/>
        </p:spPr>
        <p:txBody>
          <a:bodyPr wrap="square" rtlCol="0" anchor="ctr"/>
          <a:lstStyle/>
          <a:p>
            <a:pPr marL="0" indent="0" algn="ctr">
              <a:buNone/>
            </a:pPr>
            <a:r>
              <a:rPr lang="en-US" sz="1500" b="1" dirty="0">
                <a:solidFill>
                  <a:srgbClr val="0D0D1A"/>
                </a:solidFill>
              </a:rPr>
              <a:t>2</a:t>
            </a:r>
            <a:endParaRPr lang="en-US" sz="1500" dirty="0"/>
          </a:p>
        </p:txBody>
      </p:sp>
      <p:sp>
        <p:nvSpPr>
          <p:cNvPr id="15" name="Text 13"/>
          <p:cNvSpPr/>
          <p:nvPr/>
        </p:nvSpPr>
        <p:spPr>
          <a:xfrm>
            <a:off x="1005840" y="2039112"/>
            <a:ext cx="7498080" cy="274320"/>
          </a:xfrm>
          <a:prstGeom prst="rect">
            <a:avLst/>
          </a:prstGeom>
          <a:noFill/>
          <a:ln/>
        </p:spPr>
        <p:txBody>
          <a:bodyPr wrap="square" rtlCol="0" anchor="ctr"/>
          <a:lstStyle/>
          <a:p>
            <a:pPr marL="0" indent="0">
              <a:buNone/>
            </a:pPr>
            <a:r>
              <a:rPr lang="en-US" sz="1300" b="1" dirty="0">
                <a:solidFill>
                  <a:srgbClr val="FFFFFF"/>
                </a:solidFill>
              </a:rPr>
              <a:t>Context changes everything</a:t>
            </a:r>
            <a:endParaRPr lang="en-US" sz="1300" dirty="0"/>
          </a:p>
        </p:txBody>
      </p:sp>
      <p:sp>
        <p:nvSpPr>
          <p:cNvPr id="16" name="Text 14"/>
          <p:cNvSpPr/>
          <p:nvPr/>
        </p:nvSpPr>
        <p:spPr>
          <a:xfrm>
            <a:off x="1005840" y="2340864"/>
            <a:ext cx="7498080" cy="475488"/>
          </a:xfrm>
          <a:prstGeom prst="rect">
            <a:avLst/>
          </a:prstGeom>
          <a:noFill/>
          <a:ln/>
        </p:spPr>
        <p:txBody>
          <a:bodyPr wrap="square" rtlCol="0" anchor="ctr"/>
          <a:lstStyle/>
          <a:p>
            <a:pPr marL="0" indent="0">
              <a:buNone/>
            </a:pPr>
            <a:r>
              <a:rPr lang="en-US" sz="1050" dirty="0">
                <a:solidFill>
                  <a:srgbClr val="94A3B8"/>
                </a:solidFill>
              </a:rPr>
              <a:t>One condition flag flips the recommendation from a generic drug to a clinically specific one. That's the value of sub-graph context.</a:t>
            </a:r>
            <a:endParaRPr lang="en-US" sz="1050" dirty="0"/>
          </a:p>
        </p:txBody>
      </p:sp>
      <p:sp>
        <p:nvSpPr>
          <p:cNvPr id="17" name="Shape 15"/>
          <p:cNvSpPr/>
          <p:nvPr/>
        </p:nvSpPr>
        <p:spPr>
          <a:xfrm>
            <a:off x="365760" y="3154680"/>
            <a:ext cx="8412480" cy="1078992"/>
          </a:xfrm>
          <a:prstGeom prst="rect">
            <a:avLst/>
          </a:prstGeom>
          <a:solidFill>
            <a:srgbClr val="1A2744"/>
          </a:solidFill>
          <a:ln w="12700">
            <a:solidFill>
              <a:srgbClr val="1E3A5F"/>
            </a:solidFill>
            <a:prstDash val="solid"/>
          </a:ln>
          <a:effectLst>
            <a:outerShdw blurRad="127000" dist="50800" dir="8100000" algn="bl" rotWithShape="0">
              <a:srgbClr val="000000">
                <a:alpha val="25000"/>
              </a:srgbClr>
            </a:outerShdw>
          </a:effectLst>
        </p:spPr>
      </p:sp>
      <p:sp>
        <p:nvSpPr>
          <p:cNvPr id="18" name="Shape 16"/>
          <p:cNvSpPr/>
          <p:nvPr/>
        </p:nvSpPr>
        <p:spPr>
          <a:xfrm>
            <a:off x="365760" y="3154680"/>
            <a:ext cx="64008" cy="1078992"/>
          </a:xfrm>
          <a:prstGeom prst="rect">
            <a:avLst/>
          </a:prstGeom>
          <a:solidFill>
            <a:srgbClr val="F59E0B"/>
          </a:solidFill>
          <a:ln w="12700">
            <a:solidFill>
              <a:srgbClr val="333333"/>
            </a:solidFill>
            <a:prstDash val="solid"/>
          </a:ln>
        </p:spPr>
      </p:sp>
      <p:sp>
        <p:nvSpPr>
          <p:cNvPr id="19" name="Shape 17"/>
          <p:cNvSpPr/>
          <p:nvPr/>
        </p:nvSpPr>
        <p:spPr>
          <a:xfrm>
            <a:off x="502920" y="3200400"/>
            <a:ext cx="384048" cy="384048"/>
          </a:xfrm>
          <a:prstGeom prst="ellipse">
            <a:avLst/>
          </a:prstGeom>
          <a:solidFill>
            <a:srgbClr val="F59E0B"/>
          </a:solidFill>
          <a:ln w="12700">
            <a:solidFill>
              <a:srgbClr val="333333"/>
            </a:solidFill>
            <a:prstDash val="solid"/>
          </a:ln>
        </p:spPr>
      </p:sp>
      <p:sp>
        <p:nvSpPr>
          <p:cNvPr id="20" name="Text 18"/>
          <p:cNvSpPr/>
          <p:nvPr/>
        </p:nvSpPr>
        <p:spPr>
          <a:xfrm>
            <a:off x="502920" y="3200400"/>
            <a:ext cx="384048" cy="384048"/>
          </a:xfrm>
          <a:prstGeom prst="rect">
            <a:avLst/>
          </a:prstGeom>
          <a:noFill/>
          <a:ln/>
        </p:spPr>
        <p:txBody>
          <a:bodyPr wrap="square" rtlCol="0" anchor="ctr"/>
          <a:lstStyle/>
          <a:p>
            <a:pPr marL="0" indent="0" algn="ctr">
              <a:buNone/>
            </a:pPr>
            <a:r>
              <a:rPr lang="en-US" sz="1500" b="1" dirty="0">
                <a:solidFill>
                  <a:srgbClr val="0D0D1A"/>
                </a:solidFill>
              </a:rPr>
              <a:t>3</a:t>
            </a:r>
            <a:endParaRPr lang="en-US" sz="1500" dirty="0"/>
          </a:p>
        </p:txBody>
      </p:sp>
      <p:sp>
        <p:nvSpPr>
          <p:cNvPr id="21" name="Text 19"/>
          <p:cNvSpPr/>
          <p:nvPr/>
        </p:nvSpPr>
        <p:spPr>
          <a:xfrm>
            <a:off x="1005840" y="3227832"/>
            <a:ext cx="7498080" cy="274320"/>
          </a:xfrm>
          <a:prstGeom prst="rect">
            <a:avLst/>
          </a:prstGeom>
          <a:noFill/>
          <a:ln/>
        </p:spPr>
        <p:txBody>
          <a:bodyPr wrap="square" rtlCol="0" anchor="ctr"/>
          <a:lstStyle/>
          <a:p>
            <a:pPr marL="0" indent="0">
              <a:buNone/>
            </a:pPr>
            <a:r>
              <a:rPr lang="en-US" sz="1300" b="1" dirty="0">
                <a:solidFill>
                  <a:srgbClr val="FFFFFF"/>
                </a:solidFill>
              </a:rPr>
              <a:t>Responsible by design</a:t>
            </a:r>
            <a:endParaRPr lang="en-US" sz="1300" dirty="0"/>
          </a:p>
        </p:txBody>
      </p:sp>
      <p:sp>
        <p:nvSpPr>
          <p:cNvPr id="22" name="Text 20"/>
          <p:cNvSpPr/>
          <p:nvPr/>
        </p:nvSpPr>
        <p:spPr>
          <a:xfrm>
            <a:off x="1005840" y="3529584"/>
            <a:ext cx="7498080" cy="475488"/>
          </a:xfrm>
          <a:prstGeom prst="rect">
            <a:avLst/>
          </a:prstGeom>
          <a:noFill/>
          <a:ln/>
        </p:spPr>
        <p:txBody>
          <a:bodyPr wrap="square" rtlCol="0" anchor="ctr"/>
          <a:lstStyle/>
          <a:p>
            <a:pPr marL="0" indent="0">
              <a:buNone/>
            </a:pPr>
            <a:r>
              <a:rPr lang="en-US" sz="1050" dirty="0">
                <a:solidFill>
                  <a:srgbClr val="94A3B8"/>
                </a:solidFill>
              </a:rPr>
              <a:t>This is a support tool — never a prescribing tool. Recommendations surface information, prompts, and pharmacist reviews. Not controlled substances.</a:t>
            </a:r>
            <a:endParaRPr lang="en-US" sz="1050" dirty="0"/>
          </a:p>
        </p:txBody>
      </p:sp>
      <p:sp>
        <p:nvSpPr>
          <p:cNvPr id="23" name="Shape 21"/>
          <p:cNvSpPr/>
          <p:nvPr/>
        </p:nvSpPr>
        <p:spPr>
          <a:xfrm>
            <a:off x="365760" y="4480560"/>
            <a:ext cx="8412480" cy="475488"/>
          </a:xfrm>
          <a:prstGeom prst="rect">
            <a:avLst/>
          </a:prstGeom>
          <a:solidFill>
            <a:srgbClr val="0EA5E9"/>
          </a:solidFill>
          <a:ln w="12700">
            <a:solidFill>
              <a:srgbClr val="333333"/>
            </a:solidFill>
            <a:prstDash val="solid"/>
          </a:ln>
        </p:spPr>
      </p:sp>
      <p:sp>
        <p:nvSpPr>
          <p:cNvPr id="24" name="Text 22"/>
          <p:cNvSpPr/>
          <p:nvPr/>
        </p:nvSpPr>
        <p:spPr>
          <a:xfrm>
            <a:off x="502920" y="4498848"/>
            <a:ext cx="8138160" cy="420624"/>
          </a:xfrm>
          <a:prstGeom prst="rect">
            <a:avLst/>
          </a:prstGeom>
          <a:noFill/>
          <a:ln/>
        </p:spPr>
        <p:txBody>
          <a:bodyPr wrap="square" rtlCol="0" anchor="ctr"/>
          <a:lstStyle/>
          <a:p>
            <a:pPr marL="0" indent="0">
              <a:buNone/>
            </a:pPr>
            <a:r>
              <a:rPr lang="en-US" sz="1100" b="1" dirty="0">
                <a:solidFill>
                  <a:srgbClr val="0D0D1A"/>
                </a:solidFill>
              </a:rPr>
              <a:t>CALL TO ACTION  —  Pilot this with one drug class on real Pharmacy2U data. The architecture is built. The transition matrices are ready. We just need the signal.</a:t>
            </a:r>
            <a:endParaRPr lang="en-US" sz="1100" dirty="0"/>
          </a:p>
        </p:txBody>
      </p:sp>
      <p:sp>
        <p:nvSpPr>
          <p:cNvPr id="25" name="Text 23"/>
          <p:cNvSpPr/>
          <p:nvPr/>
        </p:nvSpPr>
        <p:spPr>
          <a:xfrm>
            <a:off x="365760" y="5010912"/>
            <a:ext cx="8412480" cy="182880"/>
          </a:xfrm>
          <a:prstGeom prst="rect">
            <a:avLst/>
          </a:prstGeom>
          <a:noFill/>
          <a:ln/>
        </p:spPr>
        <p:txBody>
          <a:bodyPr wrap="square" rtlCol="0" anchor="ctr"/>
          <a:lstStyle/>
          <a:p>
            <a:pPr marL="0" indent="0" algn="ctr">
              <a:buNone/>
            </a:pPr>
            <a:r>
              <a:rPr lang="en-US" sz="750" dirty="0">
                <a:solidFill>
                  <a:srgbClr val="475569"/>
                </a:solidFill>
              </a:rPr>
              <a:t>Pharmacy2U Hackathon 2024  ·  Challenge B: Pathway-Aware Recommendations  ·  CMS DE-SynPUF (synthetic data only)</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8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2342"/>
          </a:solidFill>
          <a:ln w="12700">
            <a:solidFill>
              <a:srgbClr val="0A2342"/>
            </a:solidFill>
            <a:prstDash val="solid"/>
          </a:ln>
        </p:spPr>
      </p:sp>
      <p:sp>
        <p:nvSpPr>
          <p:cNvPr id="3" name="Text 1"/>
          <p:cNvSpPr/>
          <p:nvPr/>
        </p:nvSpPr>
        <p:spPr>
          <a:xfrm>
            <a:off x="320040" y="0"/>
            <a:ext cx="6858000" cy="822960"/>
          </a:xfrm>
          <a:prstGeom prst="rect">
            <a:avLst/>
          </a:prstGeom>
          <a:noFill/>
          <a:ln/>
        </p:spPr>
        <p:txBody>
          <a:bodyPr wrap="square" rtlCol="0" anchor="ctr"/>
          <a:lstStyle/>
          <a:p>
            <a:pPr marL="0" indent="0">
              <a:buNone/>
            </a:pPr>
            <a:r>
              <a:rPr lang="en-US" sz="2200" b="1" dirty="0">
                <a:solidFill>
                  <a:srgbClr val="FFFFFF"/>
                </a:solidFill>
              </a:rPr>
              <a:t>Bonus: Challenge A — Late Refill Risk Predictor</a:t>
            </a:r>
            <a:endParaRPr lang="en-US" sz="2200" dirty="0"/>
          </a:p>
        </p:txBody>
      </p:sp>
      <p:sp>
        <p:nvSpPr>
          <p:cNvPr id="4" name="Shape 2"/>
          <p:cNvSpPr/>
          <p:nvPr/>
        </p:nvSpPr>
        <p:spPr>
          <a:xfrm>
            <a:off x="7315200" y="182880"/>
            <a:ext cx="1554480" cy="411480"/>
          </a:xfrm>
          <a:prstGeom prst="roundRect">
            <a:avLst>
              <a:gd name="adj" fmla="val 26667"/>
            </a:avLst>
          </a:prstGeom>
          <a:solidFill>
            <a:srgbClr val="02C39A"/>
          </a:solidFill>
          <a:ln w="12700">
            <a:solidFill>
              <a:srgbClr val="02C39A"/>
            </a:solidFill>
            <a:prstDash val="solid"/>
          </a:ln>
        </p:spPr>
      </p:sp>
      <p:sp>
        <p:nvSpPr>
          <p:cNvPr id="5" name="Text 3"/>
          <p:cNvSpPr/>
          <p:nvPr/>
        </p:nvSpPr>
        <p:spPr>
          <a:xfrm>
            <a:off x="7315200" y="182880"/>
            <a:ext cx="1554480" cy="411480"/>
          </a:xfrm>
          <a:prstGeom prst="rect">
            <a:avLst/>
          </a:prstGeom>
          <a:noFill/>
          <a:ln/>
        </p:spPr>
        <p:txBody>
          <a:bodyPr wrap="square" rtlCol="0" anchor="ctr"/>
          <a:lstStyle/>
          <a:p>
            <a:pPr marL="0" indent="0" algn="ctr">
              <a:buNone/>
            </a:pPr>
            <a:r>
              <a:rPr lang="en-US" sz="1000" b="1" dirty="0">
                <a:solidFill>
                  <a:srgbClr val="FFFFFF"/>
                </a:solidFill>
              </a:rPr>
              <a:t>XGBoost V4</a:t>
            </a:r>
            <a:endParaRPr lang="en-US" sz="1000" dirty="0"/>
          </a:p>
        </p:txBody>
      </p:sp>
      <p:sp>
        <p:nvSpPr>
          <p:cNvPr id="6" name="Shape 4"/>
          <p:cNvSpPr/>
          <p:nvPr/>
        </p:nvSpPr>
        <p:spPr>
          <a:xfrm>
            <a:off x="182880" y="914400"/>
            <a:ext cx="3108960" cy="1920240"/>
          </a:xfrm>
          <a:prstGeom prst="rect">
            <a:avLst/>
          </a:prstGeom>
          <a:solidFill>
            <a:srgbClr val="FFFFFF"/>
          </a:solidFill>
          <a:ln w="12700">
            <a:solidFill>
              <a:srgbClr val="D4EAF2"/>
            </a:solidFill>
            <a:prstDash val="solid"/>
          </a:ln>
          <a:effectLst>
            <a:outerShdw blurRad="76200" dist="25400" dir="8100000" algn="bl" rotWithShape="0">
              <a:srgbClr val="000000">
                <a:alpha val="10000"/>
              </a:srgbClr>
            </a:outerShdw>
          </a:effectLst>
        </p:spPr>
      </p:sp>
      <p:sp>
        <p:nvSpPr>
          <p:cNvPr id="7" name="Shape 5"/>
          <p:cNvSpPr/>
          <p:nvPr/>
        </p:nvSpPr>
        <p:spPr>
          <a:xfrm>
            <a:off x="182880" y="914400"/>
            <a:ext cx="3108960" cy="384048"/>
          </a:xfrm>
          <a:prstGeom prst="rect">
            <a:avLst/>
          </a:prstGeom>
          <a:solidFill>
            <a:srgbClr val="121828"/>
          </a:solidFill>
          <a:ln w="12700">
            <a:solidFill>
              <a:srgbClr val="065A82"/>
            </a:solidFill>
            <a:prstDash val="solid"/>
          </a:ln>
        </p:spPr>
      </p:sp>
      <p:sp>
        <p:nvSpPr>
          <p:cNvPr id="8" name="Text 6"/>
          <p:cNvSpPr/>
          <p:nvPr/>
        </p:nvSpPr>
        <p:spPr>
          <a:xfrm>
            <a:off x="256032" y="914400"/>
            <a:ext cx="2971800" cy="384048"/>
          </a:xfrm>
          <a:prstGeom prst="rect">
            <a:avLst/>
          </a:prstGeom>
          <a:noFill/>
          <a:ln/>
        </p:spPr>
        <p:txBody>
          <a:bodyPr wrap="square" rtlCol="0" anchor="ctr"/>
          <a:lstStyle/>
          <a:p>
            <a:pPr marL="0" indent="0">
              <a:buNone/>
            </a:pPr>
            <a:r>
              <a:rPr lang="en-US" sz="1200" b="1" dirty="0">
                <a:solidFill>
                  <a:srgbClr val="FFFFFF"/>
                </a:solidFill>
              </a:rPr>
              <a:t>Model Performance</a:t>
            </a:r>
            <a:endParaRPr lang="en-US" sz="1200" dirty="0"/>
          </a:p>
        </p:txBody>
      </p:sp>
      <p:sp>
        <p:nvSpPr>
          <p:cNvPr id="9" name="Text 7"/>
          <p:cNvSpPr/>
          <p:nvPr/>
        </p:nvSpPr>
        <p:spPr>
          <a:xfrm>
            <a:off x="274320" y="1470660"/>
            <a:ext cx="2697480" cy="1101090"/>
          </a:xfrm>
          <a:prstGeom prst="rect">
            <a:avLst/>
          </a:prstGeom>
          <a:noFill/>
          <a:ln/>
        </p:spPr>
        <p:txBody>
          <a:bodyPr wrap="square" rtlCol="0" anchor="ctr"/>
          <a:lstStyle/>
          <a:p>
            <a:pPr marL="0" indent="0">
              <a:buNone/>
            </a:pPr>
            <a:r>
              <a:rPr lang="en-US" sz="1200" b="1" dirty="0">
                <a:solidFill>
                  <a:srgbClr val="1E293B"/>
                </a:solidFill>
              </a:rPr>
              <a:t>PR-AUC: </a:t>
            </a:r>
            <a:r>
              <a:rPr lang="en-US" sz="2000" b="1" dirty="0">
                <a:solidFill>
                  <a:srgbClr val="028090"/>
                </a:solidFill>
              </a:rPr>
              <a:t>0.93</a:t>
            </a:r>
            <a:endParaRPr lang="en-US" sz="1200" dirty="0"/>
          </a:p>
          <a:p>
            <a:pPr marL="0" indent="0">
              <a:buNone/>
            </a:pPr>
            <a:r>
              <a:rPr lang="en-US" sz="1000" i="1" dirty="0">
                <a:solidFill>
                  <a:srgbClr val="1E293B"/>
                </a:solidFill>
              </a:rPr>
              <a:t>Previous best (V3): 0.80
</a:t>
            </a:r>
            <a:endParaRPr lang="en-US" sz="1200" dirty="0"/>
          </a:p>
          <a:p>
            <a:pPr marL="0" indent="0">
              <a:buNone/>
            </a:pPr>
            <a:r>
              <a:rPr lang="en-US" sz="1200" b="1" dirty="0">
                <a:solidFill>
                  <a:srgbClr val="1E293B"/>
                </a:solidFill>
              </a:rPr>
              <a:t>@ 0.35 threshold:</a:t>
            </a:r>
            <a:endParaRPr lang="en-US" sz="1200" dirty="0"/>
          </a:p>
          <a:p>
            <a:pPr marL="0" indent="0">
              <a:buNone/>
            </a:pPr>
            <a:r>
              <a:rPr lang="en-US" sz="1200" dirty="0">
                <a:solidFill>
                  <a:srgbClr val="028090"/>
                </a:solidFill>
              </a:rPr>
              <a:t>Precision ~0.9  ·  Recall ~0.9</a:t>
            </a:r>
            <a:endParaRPr lang="en-US" sz="1200" dirty="0"/>
          </a:p>
          <a:p>
            <a:pPr marL="0" indent="0">
              <a:buNone/>
            </a:pPr>
            <a:r>
              <a:rPr lang="en-US" sz="1000" i="1" dirty="0">
                <a:solidFill>
                  <a:srgbClr val="1E293B"/>
                </a:solidFill>
              </a:rPr>
              <a:t>Balanced operating point</a:t>
            </a:r>
            <a:endParaRPr lang="en-US" sz="1200" dirty="0"/>
          </a:p>
          <a:p>
            <a:pPr marL="0" indent="0">
              <a:buNone/>
            </a:pPr>
            <a:r>
              <a:rPr lang="en-US" sz="1000" i="1" dirty="0">
                <a:solidFill>
                  <a:srgbClr val="1E293B"/>
                </a:solidFill>
              </a:rPr>
              <a:t>flags more at-risk patients</a:t>
            </a:r>
            <a:endParaRPr lang="en-US" sz="1200" dirty="0"/>
          </a:p>
        </p:txBody>
      </p:sp>
      <p:pic>
        <p:nvPicPr>
          <p:cNvPr id="10" name="Image 0" descr="preencoded.png"/>
          <p:cNvPicPr>
            <a:picLocks noChangeAspect="1"/>
          </p:cNvPicPr>
          <p:nvPr/>
        </p:nvPicPr>
        <p:blipFill>
          <a:blip r:embed="rId3"/>
          <a:stretch>
            <a:fillRect/>
          </a:stretch>
        </p:blipFill>
        <p:spPr>
          <a:xfrm>
            <a:off x="3429000" y="896112"/>
            <a:ext cx="2743200" cy="1965960"/>
          </a:xfrm>
          <a:prstGeom prst="rect">
            <a:avLst/>
          </a:prstGeom>
        </p:spPr>
      </p:pic>
      <p:sp>
        <p:nvSpPr>
          <p:cNvPr id="11" name="Text 8"/>
          <p:cNvSpPr/>
          <p:nvPr/>
        </p:nvSpPr>
        <p:spPr>
          <a:xfrm>
            <a:off x="3429000" y="2880360"/>
            <a:ext cx="2743200" cy="256032"/>
          </a:xfrm>
          <a:prstGeom prst="rect">
            <a:avLst/>
          </a:prstGeom>
          <a:noFill/>
          <a:ln/>
        </p:spPr>
        <p:txBody>
          <a:bodyPr wrap="square" rtlCol="0" anchor="ctr"/>
          <a:lstStyle/>
          <a:p>
            <a:pPr marL="0" indent="0" algn="ctr">
              <a:buNone/>
            </a:pPr>
            <a:r>
              <a:rPr lang="en-US" sz="900" i="1" dirty="0">
                <a:solidFill>
                  <a:srgbClr val="64748B"/>
                </a:solidFill>
              </a:rPr>
              <a:t>Threshold: Precision vs Recall</a:t>
            </a:r>
            <a:endParaRPr lang="en-US" sz="900" dirty="0"/>
          </a:p>
        </p:txBody>
      </p:sp>
      <p:pic>
        <p:nvPicPr>
          <p:cNvPr id="12" name="Image 1" descr="preencoded.png"/>
          <p:cNvPicPr>
            <a:picLocks noChangeAspect="1"/>
          </p:cNvPicPr>
          <p:nvPr/>
        </p:nvPicPr>
        <p:blipFill>
          <a:blip r:embed="rId4"/>
          <a:stretch>
            <a:fillRect/>
          </a:stretch>
        </p:blipFill>
        <p:spPr>
          <a:xfrm>
            <a:off x="6263640" y="896112"/>
            <a:ext cx="2697480" cy="1965960"/>
          </a:xfrm>
          <a:prstGeom prst="rect">
            <a:avLst/>
          </a:prstGeom>
        </p:spPr>
      </p:pic>
      <p:sp>
        <p:nvSpPr>
          <p:cNvPr id="13" name="Text 9"/>
          <p:cNvSpPr/>
          <p:nvPr/>
        </p:nvSpPr>
        <p:spPr>
          <a:xfrm>
            <a:off x="6263640" y="2880360"/>
            <a:ext cx="2697480" cy="256032"/>
          </a:xfrm>
          <a:prstGeom prst="rect">
            <a:avLst/>
          </a:prstGeom>
          <a:noFill/>
          <a:ln/>
        </p:spPr>
        <p:txBody>
          <a:bodyPr wrap="square" rtlCol="0" anchor="ctr"/>
          <a:lstStyle/>
          <a:p>
            <a:pPr marL="0" indent="0" algn="ctr">
              <a:buNone/>
            </a:pPr>
            <a:r>
              <a:rPr lang="en-US" sz="900" i="1" dirty="0">
                <a:solidFill>
                  <a:srgbClr val="64748B"/>
                </a:solidFill>
              </a:rPr>
              <a:t>Classification Report</a:t>
            </a:r>
            <a:endParaRPr lang="en-US" sz="900" dirty="0"/>
          </a:p>
        </p:txBody>
      </p:sp>
      <p:sp>
        <p:nvSpPr>
          <p:cNvPr id="14" name="Shape 10"/>
          <p:cNvSpPr/>
          <p:nvPr/>
        </p:nvSpPr>
        <p:spPr>
          <a:xfrm>
            <a:off x="182880" y="3218688"/>
            <a:ext cx="4846320" cy="1664208"/>
          </a:xfrm>
          <a:prstGeom prst="rect">
            <a:avLst/>
          </a:prstGeom>
          <a:solidFill>
            <a:srgbClr val="FFFFFF"/>
          </a:solidFill>
          <a:ln w="12700">
            <a:solidFill>
              <a:srgbClr val="D4EAF2"/>
            </a:solidFill>
            <a:prstDash val="solid"/>
          </a:ln>
          <a:effectLst>
            <a:outerShdw blurRad="76200" dist="25400" dir="8100000" algn="bl" rotWithShape="0">
              <a:srgbClr val="000000">
                <a:alpha val="10000"/>
              </a:srgbClr>
            </a:outerShdw>
          </a:effectLst>
        </p:spPr>
      </p:sp>
      <p:sp>
        <p:nvSpPr>
          <p:cNvPr id="15" name="Shape 11"/>
          <p:cNvSpPr/>
          <p:nvPr/>
        </p:nvSpPr>
        <p:spPr>
          <a:xfrm>
            <a:off x="182880" y="3218688"/>
            <a:ext cx="4846320" cy="347472"/>
          </a:xfrm>
          <a:prstGeom prst="rect">
            <a:avLst/>
          </a:prstGeom>
          <a:solidFill>
            <a:srgbClr val="028090"/>
          </a:solidFill>
          <a:ln w="12700">
            <a:solidFill>
              <a:srgbClr val="028090"/>
            </a:solidFill>
            <a:prstDash val="solid"/>
          </a:ln>
        </p:spPr>
      </p:sp>
      <p:sp>
        <p:nvSpPr>
          <p:cNvPr id="16" name="Text 12"/>
          <p:cNvSpPr/>
          <p:nvPr/>
        </p:nvSpPr>
        <p:spPr>
          <a:xfrm>
            <a:off x="274320" y="3218688"/>
            <a:ext cx="4663440" cy="347472"/>
          </a:xfrm>
          <a:prstGeom prst="rect">
            <a:avLst/>
          </a:prstGeom>
          <a:noFill/>
          <a:ln/>
        </p:spPr>
        <p:txBody>
          <a:bodyPr wrap="square" rtlCol="0" anchor="ctr"/>
          <a:lstStyle/>
          <a:p>
            <a:pPr marL="0" indent="0">
              <a:buNone/>
            </a:pPr>
            <a:r>
              <a:rPr lang="en-US" sz="1000" b="1" dirty="0">
                <a:solidFill>
                  <a:srgbClr val="FFFFFF"/>
                </a:solidFill>
              </a:rPr>
              <a:t>Top Feature: Days of Supply dominates — refill behaviour is the strongest signal</a:t>
            </a:r>
            <a:endParaRPr lang="en-US" sz="1000" dirty="0"/>
          </a:p>
        </p:txBody>
      </p:sp>
      <p:pic>
        <p:nvPicPr>
          <p:cNvPr id="17" name="Image 2" descr="preencoded.png"/>
          <p:cNvPicPr>
            <a:picLocks noChangeAspect="1"/>
          </p:cNvPicPr>
          <p:nvPr/>
        </p:nvPicPr>
        <p:blipFill>
          <a:blip r:embed="rId5"/>
          <a:stretch>
            <a:fillRect/>
          </a:stretch>
        </p:blipFill>
        <p:spPr>
          <a:xfrm>
            <a:off x="228600" y="3593592"/>
            <a:ext cx="4754880" cy="1234440"/>
          </a:xfrm>
          <a:prstGeom prst="rect">
            <a:avLst/>
          </a:prstGeom>
        </p:spPr>
      </p:pic>
      <p:sp>
        <p:nvSpPr>
          <p:cNvPr id="18" name="Shape 13"/>
          <p:cNvSpPr/>
          <p:nvPr/>
        </p:nvSpPr>
        <p:spPr>
          <a:xfrm>
            <a:off x="5166360" y="3218688"/>
            <a:ext cx="3749040" cy="1664208"/>
          </a:xfrm>
          <a:prstGeom prst="rect">
            <a:avLst/>
          </a:prstGeom>
          <a:solidFill>
            <a:srgbClr val="0A2342"/>
          </a:solidFill>
          <a:ln w="19050">
            <a:solidFill>
              <a:srgbClr val="028090"/>
            </a:solidFill>
            <a:prstDash val="solid"/>
          </a:ln>
        </p:spPr>
      </p:sp>
      <p:sp>
        <p:nvSpPr>
          <p:cNvPr id="19" name="Text 14"/>
          <p:cNvSpPr/>
          <p:nvPr/>
        </p:nvSpPr>
        <p:spPr>
          <a:xfrm>
            <a:off x="5285232" y="3264408"/>
            <a:ext cx="3520440" cy="1572768"/>
          </a:xfrm>
          <a:prstGeom prst="rect">
            <a:avLst/>
          </a:prstGeom>
          <a:noFill/>
          <a:ln/>
        </p:spPr>
        <p:txBody>
          <a:bodyPr wrap="square" rtlCol="0" anchor="ctr"/>
          <a:lstStyle/>
          <a:p>
            <a:pPr marL="0" indent="0">
              <a:buNone/>
            </a:pPr>
            <a:r>
              <a:rPr lang="en-US" sz="1050" b="1" dirty="0">
                <a:solidFill>
                  <a:srgbClr val="02C39A"/>
                </a:solidFill>
              </a:rPr>
              <a:t>25 Features Across 3 Groups
</a:t>
            </a:r>
            <a:endParaRPr lang="en-US" sz="1050" dirty="0"/>
          </a:p>
          <a:p>
            <a:pPr marL="0" indent="0">
              <a:buNone/>
            </a:pPr>
            <a:r>
              <a:rPr lang="en-US" sz="1050" dirty="0">
                <a:solidFill>
                  <a:srgbClr val="000000"/>
                </a:solidFill>
              </a:rPr>
              <a:t>• </a:t>
            </a:r>
            <a:r>
              <a:rPr lang="en-US" sz="1050" b="1" dirty="0">
                <a:solidFill>
                  <a:srgbClr val="FFFFFF"/>
                </a:solidFill>
              </a:rPr>
              <a:t>Refill Behaviour</a:t>
            </a:r>
            <a:r>
              <a:rPr lang="en-US" sz="1050" dirty="0">
                <a:solidFill>
                  <a:srgbClr val="D4EAF2"/>
                </a:solidFill>
              </a:rPr>
              <a:t>: days supply, fill count,
  gap stats, cadence stability
</a:t>
            </a:r>
            <a:endParaRPr lang="en-US" sz="1050" dirty="0"/>
          </a:p>
          <a:p>
            <a:pPr marL="0" indent="0">
              <a:buNone/>
            </a:pPr>
            <a:r>
              <a:rPr lang="en-US" sz="1050" dirty="0">
                <a:solidFill>
                  <a:srgbClr val="000000"/>
                </a:solidFill>
              </a:rPr>
              <a:t>• </a:t>
            </a:r>
            <a:r>
              <a:rPr lang="en-US" sz="1050" b="1" dirty="0">
                <a:solidFill>
                  <a:srgbClr val="FFFFFF"/>
                </a:solidFill>
              </a:rPr>
              <a:t>Demographics</a:t>
            </a:r>
            <a:r>
              <a:rPr lang="en-US" sz="1050" dirty="0">
                <a:solidFill>
                  <a:srgbClr val="D4EAF2"/>
                </a:solidFill>
              </a:rPr>
              <a:t>: age, coverage months
</a:t>
            </a:r>
            <a:endParaRPr lang="en-US" sz="1050" dirty="0"/>
          </a:p>
          <a:p>
            <a:pPr marL="0" indent="0">
              <a:buNone/>
            </a:pPr>
            <a:r>
              <a:rPr lang="en-US" sz="1050" dirty="0">
                <a:solidFill>
                  <a:srgbClr val="000000"/>
                </a:solidFill>
              </a:rPr>
              <a:t>• </a:t>
            </a:r>
            <a:r>
              <a:rPr lang="en-US" sz="1050" b="1" dirty="0">
                <a:solidFill>
                  <a:srgbClr val="FFFFFF"/>
                </a:solidFill>
              </a:rPr>
              <a:t>Chronic Conditions</a:t>
            </a:r>
            <a:r>
              <a:rPr lang="en-US" sz="1050" dirty="0">
                <a:solidFill>
                  <a:srgbClr val="D4EAF2"/>
                </a:solidFill>
              </a:rPr>
              <a:t>: diabetes,</a:t>
            </a:r>
            <a:endParaRPr lang="en-US" sz="1050" dirty="0"/>
          </a:p>
          <a:p>
            <a:pPr marL="0" indent="0">
              <a:buNone/>
            </a:pPr>
            <a:r>
              <a:rPr lang="en-US" sz="1050" dirty="0">
                <a:solidFill>
                  <a:srgbClr val="D4EAF2"/>
                </a:solidFill>
              </a:rPr>
              <a:t>  ESRD flag, COPD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1346</Words>
  <Application>Microsoft Office PowerPoint</Application>
  <PresentationFormat>On-screen Show (16:9)</PresentationFormat>
  <Paragraphs>137</Paragraphs>
  <Slides>7</Slides>
  <Notes>7</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Pathway Engine – Pharmacy2U Hackathon</dc:title>
  <dc:subject>PptxGenJS Presentation</dc:subject>
  <dc:creator>PptxGenJS</dc:creator>
  <cp:lastModifiedBy>Vaishali Nainwal [shtd0023]</cp:lastModifiedBy>
  <cp:revision>3</cp:revision>
  <dcterms:created xsi:type="dcterms:W3CDTF">2026-03-31T11:02:53Z</dcterms:created>
  <dcterms:modified xsi:type="dcterms:W3CDTF">2026-03-31T12:13:13Z</dcterms:modified>
</cp:coreProperties>
</file>